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9/25/2026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9/25/2026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9/25/2026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9/25/2026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C38CF-CBA6-B8AA-2332-08D0E1514453}"/>
              </a:ext>
            </a:extLst>
          </p:cNvPr>
          <p:cNvSpPr>
            <a:spLocks noGrp="1"/>
          </p:cNvSpPr>
          <p:nvPr>
            <p:ph type="ctrTitle"/>
          </p:nvPr>
        </p:nvSpPr>
        <p:spPr/>
        <p:txBody>
          <a:bodyPr/>
          <a:lstStyle/>
          <a:p>
            <a:r>
              <a:rPr lang="en-IN" sz="5400" b="1" dirty="0"/>
              <a:t>Renewable Energy Generation Forecasting</a:t>
            </a:r>
            <a:endParaRPr lang="en-IN" sz="5400" dirty="0"/>
          </a:p>
        </p:txBody>
      </p:sp>
      <p:sp>
        <p:nvSpPr>
          <p:cNvPr id="3" name="Subtitle 2">
            <a:extLst>
              <a:ext uri="{FF2B5EF4-FFF2-40B4-BE49-F238E27FC236}">
                <a16:creationId xmlns:a16="http://schemas.microsoft.com/office/drawing/2014/main" id="{2CF643BB-9820-7926-7D78-E8CD04A0638D}"/>
              </a:ext>
            </a:extLst>
          </p:cNvPr>
          <p:cNvSpPr>
            <a:spLocks noGrp="1"/>
          </p:cNvSpPr>
          <p:nvPr>
            <p:ph type="subTitle" idx="1"/>
          </p:nvPr>
        </p:nvSpPr>
        <p:spPr/>
        <p:txBody>
          <a:bodyPr>
            <a:normAutofit fontScale="62500" lnSpcReduction="20000"/>
          </a:bodyPr>
          <a:lstStyle/>
          <a:p>
            <a:r>
              <a:rPr lang="en-IN" dirty="0"/>
              <a:t>(AIS21)</a:t>
            </a:r>
          </a:p>
          <a:p>
            <a:r>
              <a:rPr lang="en-IN" dirty="0"/>
              <a:t>Hassaan Shah</a:t>
            </a:r>
          </a:p>
          <a:p>
            <a:r>
              <a:rPr lang="en-IN" dirty="0"/>
              <a:t>Nitish Kumar</a:t>
            </a:r>
          </a:p>
          <a:p>
            <a:r>
              <a:rPr lang="en-IN" dirty="0"/>
              <a:t>Yashwanth Rawat</a:t>
            </a:r>
          </a:p>
          <a:p>
            <a:r>
              <a:rPr lang="en-IN" dirty="0"/>
              <a:t>Sunil </a:t>
            </a:r>
            <a:r>
              <a:rPr lang="en-IN" dirty="0" err="1"/>
              <a:t>Chudasuma</a:t>
            </a:r>
            <a:endParaRPr lang="en-IN" dirty="0"/>
          </a:p>
        </p:txBody>
      </p:sp>
    </p:spTree>
    <p:extLst>
      <p:ext uri="{BB962C8B-B14F-4D97-AF65-F5344CB8AC3E}">
        <p14:creationId xmlns:p14="http://schemas.microsoft.com/office/powerpoint/2010/main" val="1795755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1B95-F80E-3E2B-6433-35DB7DCE0D54}"/>
              </a:ext>
            </a:extLst>
          </p:cNvPr>
          <p:cNvSpPr>
            <a:spLocks noGrp="1"/>
          </p:cNvSpPr>
          <p:nvPr>
            <p:ph type="title"/>
          </p:nvPr>
        </p:nvSpPr>
        <p:spPr>
          <a:xfrm>
            <a:off x="1371600" y="685800"/>
            <a:ext cx="3977149" cy="1485900"/>
          </a:xfrm>
        </p:spPr>
        <p:txBody>
          <a:bodyPr/>
          <a:lstStyle/>
          <a:p>
            <a:r>
              <a:rPr lang="en-IN" dirty="0" err="1"/>
              <a:t>energy_dataset</a:t>
            </a:r>
            <a:r>
              <a:rPr lang="en-IN" dirty="0"/>
              <a:t> Info</a:t>
            </a:r>
          </a:p>
        </p:txBody>
      </p:sp>
      <p:sp>
        <p:nvSpPr>
          <p:cNvPr id="3" name="TextBox 2">
            <a:extLst>
              <a:ext uri="{FF2B5EF4-FFF2-40B4-BE49-F238E27FC236}">
                <a16:creationId xmlns:a16="http://schemas.microsoft.com/office/drawing/2014/main" id="{14A3A12E-1944-8CC2-750A-49C867E085D8}"/>
              </a:ext>
            </a:extLst>
          </p:cNvPr>
          <p:cNvSpPr txBox="1"/>
          <p:nvPr/>
        </p:nvSpPr>
        <p:spPr>
          <a:xfrm>
            <a:off x="6843252" y="653835"/>
            <a:ext cx="4395019" cy="1446550"/>
          </a:xfrm>
          <a:prstGeom prst="rect">
            <a:avLst/>
          </a:prstGeom>
          <a:noFill/>
        </p:spPr>
        <p:txBody>
          <a:bodyPr wrap="square" rtlCol="0">
            <a:spAutoFit/>
          </a:bodyPr>
          <a:lstStyle/>
          <a:p>
            <a:r>
              <a:rPr lang="en-IN" sz="4400" dirty="0" err="1">
                <a:latin typeface="+mj-lt"/>
              </a:rPr>
              <a:t>weather_features</a:t>
            </a:r>
            <a:r>
              <a:rPr lang="en-IN" sz="4400" dirty="0">
                <a:latin typeface="+mj-lt"/>
              </a:rPr>
              <a:t> Info</a:t>
            </a:r>
          </a:p>
        </p:txBody>
      </p:sp>
      <p:pic>
        <p:nvPicPr>
          <p:cNvPr id="11" name="Picture 10">
            <a:extLst>
              <a:ext uri="{FF2B5EF4-FFF2-40B4-BE49-F238E27FC236}">
                <a16:creationId xmlns:a16="http://schemas.microsoft.com/office/drawing/2014/main" id="{C81104E2-2A52-DE93-6A4A-713DAAED6BD6}"/>
              </a:ext>
            </a:extLst>
          </p:cNvPr>
          <p:cNvPicPr>
            <a:picLocks noChangeAspect="1"/>
          </p:cNvPicPr>
          <p:nvPr/>
        </p:nvPicPr>
        <p:blipFill>
          <a:blip r:embed="rId2"/>
          <a:stretch>
            <a:fillRect/>
          </a:stretch>
        </p:blipFill>
        <p:spPr>
          <a:xfrm>
            <a:off x="6843252" y="2171700"/>
            <a:ext cx="2502310" cy="635441"/>
          </a:xfrm>
          <a:prstGeom prst="rect">
            <a:avLst/>
          </a:prstGeom>
        </p:spPr>
      </p:pic>
      <p:pic>
        <p:nvPicPr>
          <p:cNvPr id="13" name="Picture 12">
            <a:extLst>
              <a:ext uri="{FF2B5EF4-FFF2-40B4-BE49-F238E27FC236}">
                <a16:creationId xmlns:a16="http://schemas.microsoft.com/office/drawing/2014/main" id="{6C463AD6-B93A-ED3D-3157-BE6E29EDF396}"/>
              </a:ext>
            </a:extLst>
          </p:cNvPr>
          <p:cNvPicPr>
            <a:picLocks noChangeAspect="1"/>
          </p:cNvPicPr>
          <p:nvPr/>
        </p:nvPicPr>
        <p:blipFill>
          <a:blip r:embed="rId3"/>
          <a:stretch>
            <a:fillRect/>
          </a:stretch>
        </p:blipFill>
        <p:spPr>
          <a:xfrm>
            <a:off x="6843252" y="3054398"/>
            <a:ext cx="3939881" cy="3406435"/>
          </a:xfrm>
          <a:prstGeom prst="rect">
            <a:avLst/>
          </a:prstGeom>
        </p:spPr>
      </p:pic>
      <p:pic>
        <p:nvPicPr>
          <p:cNvPr id="15" name="Picture 14">
            <a:extLst>
              <a:ext uri="{FF2B5EF4-FFF2-40B4-BE49-F238E27FC236}">
                <a16:creationId xmlns:a16="http://schemas.microsoft.com/office/drawing/2014/main" id="{552C9110-D1EF-22D9-BBB9-844F697B3178}"/>
              </a:ext>
            </a:extLst>
          </p:cNvPr>
          <p:cNvPicPr>
            <a:picLocks noChangeAspect="1"/>
          </p:cNvPicPr>
          <p:nvPr/>
        </p:nvPicPr>
        <p:blipFill>
          <a:blip r:embed="rId4"/>
          <a:stretch>
            <a:fillRect/>
          </a:stretch>
        </p:blipFill>
        <p:spPr>
          <a:xfrm>
            <a:off x="1371600" y="2100385"/>
            <a:ext cx="1844200" cy="586791"/>
          </a:xfrm>
          <a:prstGeom prst="rect">
            <a:avLst/>
          </a:prstGeom>
        </p:spPr>
      </p:pic>
      <p:pic>
        <p:nvPicPr>
          <p:cNvPr id="17" name="Picture 16">
            <a:extLst>
              <a:ext uri="{FF2B5EF4-FFF2-40B4-BE49-F238E27FC236}">
                <a16:creationId xmlns:a16="http://schemas.microsoft.com/office/drawing/2014/main" id="{DC31E521-B470-0DA5-D529-795A9798EC6E}"/>
              </a:ext>
            </a:extLst>
          </p:cNvPr>
          <p:cNvPicPr>
            <a:picLocks noChangeAspect="1"/>
          </p:cNvPicPr>
          <p:nvPr/>
        </p:nvPicPr>
        <p:blipFill>
          <a:blip r:embed="rId5"/>
          <a:stretch>
            <a:fillRect/>
          </a:stretch>
        </p:blipFill>
        <p:spPr>
          <a:xfrm>
            <a:off x="1371600" y="2815518"/>
            <a:ext cx="3857295" cy="3884194"/>
          </a:xfrm>
          <a:prstGeom prst="rect">
            <a:avLst/>
          </a:prstGeom>
        </p:spPr>
      </p:pic>
    </p:spTree>
    <p:extLst>
      <p:ext uri="{BB962C8B-B14F-4D97-AF65-F5344CB8AC3E}">
        <p14:creationId xmlns:p14="http://schemas.microsoft.com/office/powerpoint/2010/main" val="1213459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5CB9-0F05-59D9-0DA2-9A22105BCD94}"/>
              </a:ext>
            </a:extLst>
          </p:cNvPr>
          <p:cNvSpPr>
            <a:spLocks noGrp="1"/>
          </p:cNvSpPr>
          <p:nvPr>
            <p:ph type="title"/>
          </p:nvPr>
        </p:nvSpPr>
        <p:spPr>
          <a:xfrm>
            <a:off x="1295400" y="2534264"/>
            <a:ext cx="9601200" cy="1485900"/>
          </a:xfrm>
        </p:spPr>
        <p:txBody>
          <a:bodyPr/>
          <a:lstStyle/>
          <a:p>
            <a:pPr algn="ctr"/>
            <a:r>
              <a:rPr lang="en-IN" dirty="0"/>
              <a:t>Data Preprocessing &amp; Feature Engineering</a:t>
            </a:r>
          </a:p>
        </p:txBody>
      </p:sp>
    </p:spTree>
    <p:extLst>
      <p:ext uri="{BB962C8B-B14F-4D97-AF65-F5344CB8AC3E}">
        <p14:creationId xmlns:p14="http://schemas.microsoft.com/office/powerpoint/2010/main" val="79548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9A468-2C11-A888-C1E7-8A19FD9F2C83}"/>
              </a:ext>
            </a:extLst>
          </p:cNvPr>
          <p:cNvSpPr>
            <a:spLocks noGrp="1"/>
          </p:cNvSpPr>
          <p:nvPr>
            <p:ph type="title"/>
          </p:nvPr>
        </p:nvSpPr>
        <p:spPr/>
        <p:txBody>
          <a:bodyPr/>
          <a:lstStyle/>
          <a:p>
            <a:r>
              <a:rPr lang="en-IN" dirty="0"/>
              <a:t>Engineering the Forecasting Dataset </a:t>
            </a:r>
          </a:p>
        </p:txBody>
      </p:sp>
      <p:sp>
        <p:nvSpPr>
          <p:cNvPr id="3" name="Content Placeholder 2">
            <a:extLst>
              <a:ext uri="{FF2B5EF4-FFF2-40B4-BE49-F238E27FC236}">
                <a16:creationId xmlns:a16="http://schemas.microsoft.com/office/drawing/2014/main" id="{B8E0C788-CE3D-637F-E5CB-174ECCF0E91A}"/>
              </a:ext>
            </a:extLst>
          </p:cNvPr>
          <p:cNvSpPr>
            <a:spLocks noGrp="1"/>
          </p:cNvSpPr>
          <p:nvPr>
            <p:ph idx="1"/>
          </p:nvPr>
        </p:nvSpPr>
        <p:spPr/>
        <p:txBody>
          <a:bodyPr/>
          <a:lstStyle/>
          <a:p>
            <a:r>
              <a:rPr lang="en-IN" b="1" dirty="0"/>
              <a:t>Targeted Feature Selection:</a:t>
            </a:r>
            <a:r>
              <a:rPr lang="en-IN" dirty="0"/>
              <a:t> Dropped irrelevant fossil fuel, hydro, and pricing columns to focus exclusively on solar generation and total load variables. </a:t>
            </a:r>
          </a:p>
          <a:p>
            <a:r>
              <a:rPr lang="en-IN" b="1" dirty="0"/>
              <a:t>Weather Data Cleanup:</a:t>
            </a:r>
            <a:r>
              <a:rPr lang="en-IN" dirty="0"/>
              <a:t> Eliminated redundant metrics (e.g., weather icons, min/max temperatures) and removed duplicate city-time records. </a:t>
            </a:r>
          </a:p>
          <a:p>
            <a:r>
              <a:rPr lang="en-IN" b="1" dirty="0"/>
              <a:t>City-Level Pivoting:</a:t>
            </a:r>
            <a:r>
              <a:rPr lang="en-IN" dirty="0"/>
              <a:t> Restructured the weather dataset so each city's specific conditions (e.g., </a:t>
            </a:r>
            <a:r>
              <a:rPr lang="en-IN" dirty="0" err="1"/>
              <a:t>Barcelona_temp</a:t>
            </a:r>
            <a:r>
              <a:rPr lang="en-IN" dirty="0"/>
              <a:t>, </a:t>
            </a:r>
            <a:r>
              <a:rPr lang="en-IN" dirty="0" err="1"/>
              <a:t>Valencia_humidity</a:t>
            </a:r>
            <a:r>
              <a:rPr lang="en-IN" dirty="0"/>
              <a:t>) serve as distinct, localized features. </a:t>
            </a:r>
          </a:p>
          <a:p>
            <a:r>
              <a:rPr lang="en-IN" b="1" dirty="0"/>
              <a:t>Time-Series Alignment:</a:t>
            </a:r>
            <a:r>
              <a:rPr lang="en-IN" dirty="0"/>
              <a:t> Standardized timestamps to UTC and merged the grid energy data with the localized weather features into a single, unified </a:t>
            </a:r>
            <a:r>
              <a:rPr lang="en-IN" dirty="0" err="1"/>
              <a:t>dataframe</a:t>
            </a:r>
            <a:r>
              <a:rPr lang="en-IN" dirty="0"/>
              <a:t> for the forecasting model. </a:t>
            </a:r>
          </a:p>
          <a:p>
            <a:endParaRPr lang="en-IN" dirty="0"/>
          </a:p>
        </p:txBody>
      </p:sp>
    </p:spTree>
    <p:extLst>
      <p:ext uri="{BB962C8B-B14F-4D97-AF65-F5344CB8AC3E}">
        <p14:creationId xmlns:p14="http://schemas.microsoft.com/office/powerpoint/2010/main" val="147149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E05DA-E4D1-B447-4779-C5DD043B5FB7}"/>
              </a:ext>
            </a:extLst>
          </p:cNvPr>
          <p:cNvSpPr>
            <a:spLocks noGrp="1"/>
          </p:cNvSpPr>
          <p:nvPr>
            <p:ph type="title"/>
          </p:nvPr>
        </p:nvSpPr>
        <p:spPr/>
        <p:txBody>
          <a:bodyPr/>
          <a:lstStyle/>
          <a:p>
            <a:r>
              <a:rPr lang="en-IN" dirty="0"/>
              <a:t>Final Dataset</a:t>
            </a:r>
          </a:p>
        </p:txBody>
      </p:sp>
      <p:pic>
        <p:nvPicPr>
          <p:cNvPr id="4" name="Picture 3">
            <a:extLst>
              <a:ext uri="{FF2B5EF4-FFF2-40B4-BE49-F238E27FC236}">
                <a16:creationId xmlns:a16="http://schemas.microsoft.com/office/drawing/2014/main" id="{EDB23D9E-3BFC-03CE-8515-6520C2F66B31}"/>
              </a:ext>
            </a:extLst>
          </p:cNvPr>
          <p:cNvPicPr>
            <a:picLocks noChangeAspect="1"/>
          </p:cNvPicPr>
          <p:nvPr/>
        </p:nvPicPr>
        <p:blipFill>
          <a:blip r:embed="rId2"/>
          <a:stretch>
            <a:fillRect/>
          </a:stretch>
        </p:blipFill>
        <p:spPr>
          <a:xfrm>
            <a:off x="1507720" y="1577288"/>
            <a:ext cx="1982732" cy="594412"/>
          </a:xfrm>
          <a:prstGeom prst="rect">
            <a:avLst/>
          </a:prstGeom>
        </p:spPr>
      </p:pic>
      <p:pic>
        <p:nvPicPr>
          <p:cNvPr id="6" name="Picture 5">
            <a:extLst>
              <a:ext uri="{FF2B5EF4-FFF2-40B4-BE49-F238E27FC236}">
                <a16:creationId xmlns:a16="http://schemas.microsoft.com/office/drawing/2014/main" id="{F1B269BA-7232-889F-A4ED-9DFB93CCFEBD}"/>
              </a:ext>
            </a:extLst>
          </p:cNvPr>
          <p:cNvPicPr>
            <a:picLocks noChangeAspect="1"/>
          </p:cNvPicPr>
          <p:nvPr/>
        </p:nvPicPr>
        <p:blipFill>
          <a:blip r:embed="rId3"/>
          <a:stretch>
            <a:fillRect/>
          </a:stretch>
        </p:blipFill>
        <p:spPr>
          <a:xfrm>
            <a:off x="1371600" y="2521689"/>
            <a:ext cx="10668925" cy="3741744"/>
          </a:xfrm>
          <a:prstGeom prst="rect">
            <a:avLst/>
          </a:prstGeom>
        </p:spPr>
      </p:pic>
    </p:spTree>
    <p:extLst>
      <p:ext uri="{BB962C8B-B14F-4D97-AF65-F5344CB8AC3E}">
        <p14:creationId xmlns:p14="http://schemas.microsoft.com/office/powerpoint/2010/main" val="2503681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9F2C-FD95-C18F-5C6F-ECF3D95881FC}"/>
              </a:ext>
            </a:extLst>
          </p:cNvPr>
          <p:cNvSpPr>
            <a:spLocks noGrp="1"/>
          </p:cNvSpPr>
          <p:nvPr>
            <p:ph type="title"/>
          </p:nvPr>
        </p:nvSpPr>
        <p:spPr/>
        <p:txBody>
          <a:bodyPr/>
          <a:lstStyle/>
          <a:p>
            <a:r>
              <a:rPr lang="en-IN" dirty="0"/>
              <a:t>Distributing data into Categorical &amp; numerical columns</a:t>
            </a:r>
          </a:p>
        </p:txBody>
      </p:sp>
      <p:pic>
        <p:nvPicPr>
          <p:cNvPr id="4" name="Picture 3">
            <a:extLst>
              <a:ext uri="{FF2B5EF4-FFF2-40B4-BE49-F238E27FC236}">
                <a16:creationId xmlns:a16="http://schemas.microsoft.com/office/drawing/2014/main" id="{1D02699F-F6DF-7CBB-C2E1-BCA9544DD5C7}"/>
              </a:ext>
            </a:extLst>
          </p:cNvPr>
          <p:cNvPicPr>
            <a:picLocks noChangeAspect="1"/>
          </p:cNvPicPr>
          <p:nvPr/>
        </p:nvPicPr>
        <p:blipFill>
          <a:blip r:embed="rId2"/>
          <a:stretch>
            <a:fillRect/>
          </a:stretch>
        </p:blipFill>
        <p:spPr>
          <a:xfrm>
            <a:off x="1184083" y="2913131"/>
            <a:ext cx="10531753" cy="1773170"/>
          </a:xfrm>
          <a:prstGeom prst="rect">
            <a:avLst/>
          </a:prstGeom>
        </p:spPr>
      </p:pic>
      <p:sp>
        <p:nvSpPr>
          <p:cNvPr id="5" name="TextBox 4">
            <a:extLst>
              <a:ext uri="{FF2B5EF4-FFF2-40B4-BE49-F238E27FC236}">
                <a16:creationId xmlns:a16="http://schemas.microsoft.com/office/drawing/2014/main" id="{83954029-8350-726F-48C6-57A5AED53CE1}"/>
              </a:ext>
            </a:extLst>
          </p:cNvPr>
          <p:cNvSpPr txBox="1"/>
          <p:nvPr/>
        </p:nvSpPr>
        <p:spPr>
          <a:xfrm>
            <a:off x="1184083" y="5063613"/>
            <a:ext cx="10531753" cy="369332"/>
          </a:xfrm>
          <a:prstGeom prst="rect">
            <a:avLst/>
          </a:prstGeom>
          <a:noFill/>
        </p:spPr>
        <p:txBody>
          <a:bodyPr wrap="square" rtlCol="0">
            <a:spAutoFit/>
          </a:bodyPr>
          <a:lstStyle/>
          <a:p>
            <a:r>
              <a:rPr lang="en-IN" dirty="0"/>
              <a:t>Target Column = ‘Solar Generation’</a:t>
            </a:r>
          </a:p>
        </p:txBody>
      </p:sp>
    </p:spTree>
    <p:extLst>
      <p:ext uri="{BB962C8B-B14F-4D97-AF65-F5344CB8AC3E}">
        <p14:creationId xmlns:p14="http://schemas.microsoft.com/office/powerpoint/2010/main" val="3117132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49973-ED0A-C956-4D73-5417C57B0C45}"/>
              </a:ext>
            </a:extLst>
          </p:cNvPr>
          <p:cNvSpPr>
            <a:spLocks noGrp="1"/>
          </p:cNvSpPr>
          <p:nvPr>
            <p:ph type="title"/>
          </p:nvPr>
        </p:nvSpPr>
        <p:spPr>
          <a:xfrm>
            <a:off x="1295400" y="2686050"/>
            <a:ext cx="9601200" cy="1485900"/>
          </a:xfrm>
        </p:spPr>
        <p:txBody>
          <a:bodyPr/>
          <a:lstStyle/>
          <a:p>
            <a:pPr algn="ctr"/>
            <a:r>
              <a:rPr lang="en-IN" dirty="0"/>
              <a:t>Outlier Treatment</a:t>
            </a:r>
          </a:p>
        </p:txBody>
      </p:sp>
    </p:spTree>
    <p:extLst>
      <p:ext uri="{BB962C8B-B14F-4D97-AF65-F5344CB8AC3E}">
        <p14:creationId xmlns:p14="http://schemas.microsoft.com/office/powerpoint/2010/main" val="2982404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055DA-64F8-7F37-59AA-A0BAF812B8AF}"/>
              </a:ext>
            </a:extLst>
          </p:cNvPr>
          <p:cNvSpPr>
            <a:spLocks noGrp="1"/>
          </p:cNvSpPr>
          <p:nvPr>
            <p:ph idx="1"/>
          </p:nvPr>
        </p:nvSpPr>
        <p:spPr>
          <a:xfrm>
            <a:off x="1295400" y="516193"/>
            <a:ext cx="9601200" cy="457200"/>
          </a:xfrm>
        </p:spPr>
        <p:txBody>
          <a:bodyPr/>
          <a:lstStyle/>
          <a:p>
            <a:r>
              <a:rPr lang="en-IN" dirty="0"/>
              <a:t>Noticed extreme outliers in the data</a:t>
            </a:r>
          </a:p>
        </p:txBody>
      </p:sp>
      <p:pic>
        <p:nvPicPr>
          <p:cNvPr id="7" name="Picture 6">
            <a:extLst>
              <a:ext uri="{FF2B5EF4-FFF2-40B4-BE49-F238E27FC236}">
                <a16:creationId xmlns:a16="http://schemas.microsoft.com/office/drawing/2014/main" id="{17D83883-989F-FD9A-EFBB-8030E5BA0FBC}"/>
              </a:ext>
            </a:extLst>
          </p:cNvPr>
          <p:cNvPicPr>
            <a:picLocks noChangeAspect="1"/>
          </p:cNvPicPr>
          <p:nvPr/>
        </p:nvPicPr>
        <p:blipFill>
          <a:blip r:embed="rId2"/>
          <a:stretch>
            <a:fillRect/>
          </a:stretch>
        </p:blipFill>
        <p:spPr>
          <a:xfrm>
            <a:off x="1295400" y="973393"/>
            <a:ext cx="9952703" cy="5759869"/>
          </a:xfrm>
          <a:prstGeom prst="rect">
            <a:avLst/>
          </a:prstGeom>
        </p:spPr>
      </p:pic>
    </p:spTree>
    <p:extLst>
      <p:ext uri="{BB962C8B-B14F-4D97-AF65-F5344CB8AC3E}">
        <p14:creationId xmlns:p14="http://schemas.microsoft.com/office/powerpoint/2010/main" val="3449907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45FD-C158-4A4B-3FC8-0C6E992EEAE9}"/>
              </a:ext>
            </a:extLst>
          </p:cNvPr>
          <p:cNvSpPr>
            <a:spLocks noGrp="1"/>
          </p:cNvSpPr>
          <p:nvPr>
            <p:ph type="title"/>
          </p:nvPr>
        </p:nvSpPr>
        <p:spPr>
          <a:xfrm>
            <a:off x="1371600" y="506361"/>
            <a:ext cx="9601200" cy="484239"/>
          </a:xfrm>
        </p:spPr>
        <p:txBody>
          <a:bodyPr>
            <a:normAutofit fontScale="90000"/>
          </a:bodyPr>
          <a:lstStyle/>
          <a:p>
            <a:r>
              <a:rPr lang="en-IN" dirty="0"/>
              <a:t>Method 1 (Converting into logs)</a:t>
            </a:r>
          </a:p>
        </p:txBody>
      </p:sp>
      <p:pic>
        <p:nvPicPr>
          <p:cNvPr id="5" name="Picture 4">
            <a:extLst>
              <a:ext uri="{FF2B5EF4-FFF2-40B4-BE49-F238E27FC236}">
                <a16:creationId xmlns:a16="http://schemas.microsoft.com/office/drawing/2014/main" id="{7516EA2D-11A4-F894-55B3-763F6690CD77}"/>
              </a:ext>
            </a:extLst>
          </p:cNvPr>
          <p:cNvPicPr>
            <a:picLocks noChangeAspect="1"/>
          </p:cNvPicPr>
          <p:nvPr/>
        </p:nvPicPr>
        <p:blipFill>
          <a:blip r:embed="rId2"/>
          <a:stretch>
            <a:fillRect/>
          </a:stretch>
        </p:blipFill>
        <p:spPr>
          <a:xfrm>
            <a:off x="3207581" y="1971099"/>
            <a:ext cx="5776838" cy="4380540"/>
          </a:xfrm>
          <a:prstGeom prst="rect">
            <a:avLst/>
          </a:prstGeom>
        </p:spPr>
      </p:pic>
    </p:spTree>
    <p:extLst>
      <p:ext uri="{BB962C8B-B14F-4D97-AF65-F5344CB8AC3E}">
        <p14:creationId xmlns:p14="http://schemas.microsoft.com/office/powerpoint/2010/main" val="4101330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A8F2F-A122-B460-052B-256208952AE8}"/>
              </a:ext>
            </a:extLst>
          </p:cNvPr>
          <p:cNvSpPr>
            <a:spLocks noGrp="1"/>
          </p:cNvSpPr>
          <p:nvPr>
            <p:ph type="title"/>
          </p:nvPr>
        </p:nvSpPr>
        <p:spPr>
          <a:xfrm>
            <a:off x="1295400" y="420329"/>
            <a:ext cx="9601200" cy="484239"/>
          </a:xfrm>
        </p:spPr>
        <p:txBody>
          <a:bodyPr>
            <a:normAutofit fontScale="90000"/>
          </a:bodyPr>
          <a:lstStyle/>
          <a:p>
            <a:r>
              <a:rPr lang="en-IN" dirty="0"/>
              <a:t>Method 2 (</a:t>
            </a:r>
            <a:r>
              <a:rPr lang="en-IN" dirty="0" err="1"/>
              <a:t>winsorization</a:t>
            </a:r>
            <a:r>
              <a:rPr lang="en-IN" dirty="0"/>
              <a:t> skewness)</a:t>
            </a:r>
          </a:p>
        </p:txBody>
      </p:sp>
      <p:pic>
        <p:nvPicPr>
          <p:cNvPr id="4" name="Picture 3">
            <a:extLst>
              <a:ext uri="{FF2B5EF4-FFF2-40B4-BE49-F238E27FC236}">
                <a16:creationId xmlns:a16="http://schemas.microsoft.com/office/drawing/2014/main" id="{43F0B540-EBBA-28D1-4CE5-D8E8C6F7617B}"/>
              </a:ext>
            </a:extLst>
          </p:cNvPr>
          <p:cNvPicPr>
            <a:picLocks noChangeAspect="1"/>
          </p:cNvPicPr>
          <p:nvPr/>
        </p:nvPicPr>
        <p:blipFill>
          <a:blip r:embed="rId2"/>
          <a:stretch>
            <a:fillRect/>
          </a:stretch>
        </p:blipFill>
        <p:spPr>
          <a:xfrm>
            <a:off x="2705027" y="1927122"/>
            <a:ext cx="6781945" cy="3893574"/>
          </a:xfrm>
          <a:prstGeom prst="rect">
            <a:avLst/>
          </a:prstGeom>
        </p:spPr>
      </p:pic>
    </p:spTree>
    <p:extLst>
      <p:ext uri="{BB962C8B-B14F-4D97-AF65-F5344CB8AC3E}">
        <p14:creationId xmlns:p14="http://schemas.microsoft.com/office/powerpoint/2010/main" val="2891203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2E682-64D9-3F2B-FFAC-960D01FCDD4C}"/>
              </a:ext>
            </a:extLst>
          </p:cNvPr>
          <p:cNvSpPr>
            <a:spLocks noGrp="1"/>
          </p:cNvSpPr>
          <p:nvPr>
            <p:ph type="title"/>
          </p:nvPr>
        </p:nvSpPr>
        <p:spPr/>
        <p:txBody>
          <a:bodyPr/>
          <a:lstStyle/>
          <a:p>
            <a:r>
              <a:rPr lang="en-IN" dirty="0"/>
              <a:t>Method 3 (Quantile Transformation)</a:t>
            </a:r>
          </a:p>
        </p:txBody>
      </p:sp>
      <p:pic>
        <p:nvPicPr>
          <p:cNvPr id="4" name="Picture 3">
            <a:extLst>
              <a:ext uri="{FF2B5EF4-FFF2-40B4-BE49-F238E27FC236}">
                <a16:creationId xmlns:a16="http://schemas.microsoft.com/office/drawing/2014/main" id="{6ED1CC41-1095-1AFF-E836-393FAB0E196F}"/>
              </a:ext>
            </a:extLst>
          </p:cNvPr>
          <p:cNvPicPr>
            <a:picLocks noChangeAspect="1"/>
          </p:cNvPicPr>
          <p:nvPr/>
        </p:nvPicPr>
        <p:blipFill>
          <a:blip r:embed="rId2"/>
          <a:stretch>
            <a:fillRect/>
          </a:stretch>
        </p:blipFill>
        <p:spPr>
          <a:xfrm>
            <a:off x="2276167" y="1561876"/>
            <a:ext cx="7639665" cy="4102284"/>
          </a:xfrm>
          <a:prstGeom prst="rect">
            <a:avLst/>
          </a:prstGeom>
        </p:spPr>
      </p:pic>
      <p:sp>
        <p:nvSpPr>
          <p:cNvPr id="5" name="TextBox 4">
            <a:extLst>
              <a:ext uri="{FF2B5EF4-FFF2-40B4-BE49-F238E27FC236}">
                <a16:creationId xmlns:a16="http://schemas.microsoft.com/office/drawing/2014/main" id="{7D671E9D-6860-8572-6CDE-E7072DFF3A54}"/>
              </a:ext>
            </a:extLst>
          </p:cNvPr>
          <p:cNvSpPr txBox="1"/>
          <p:nvPr/>
        </p:nvSpPr>
        <p:spPr>
          <a:xfrm>
            <a:off x="3013586" y="6066502"/>
            <a:ext cx="6164826" cy="369332"/>
          </a:xfrm>
          <a:prstGeom prst="rect">
            <a:avLst/>
          </a:prstGeom>
          <a:noFill/>
        </p:spPr>
        <p:txBody>
          <a:bodyPr wrap="square" rtlCol="0">
            <a:spAutoFit/>
          </a:bodyPr>
          <a:lstStyle/>
          <a:p>
            <a:r>
              <a:rPr lang="en-IN" dirty="0"/>
              <a:t>Opted this method of outlier transformation</a:t>
            </a:r>
          </a:p>
        </p:txBody>
      </p:sp>
    </p:spTree>
    <p:extLst>
      <p:ext uri="{BB962C8B-B14F-4D97-AF65-F5344CB8AC3E}">
        <p14:creationId xmlns:p14="http://schemas.microsoft.com/office/powerpoint/2010/main" val="1595526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168AE-A90C-8C82-7236-256F108DD964}"/>
              </a:ext>
            </a:extLst>
          </p:cNvPr>
          <p:cNvSpPr>
            <a:spLocks noGrp="1"/>
          </p:cNvSpPr>
          <p:nvPr>
            <p:ph type="title"/>
          </p:nvPr>
        </p:nvSpPr>
        <p:spPr>
          <a:xfrm>
            <a:off x="1295400" y="2686050"/>
            <a:ext cx="9601200" cy="1485900"/>
          </a:xfrm>
        </p:spPr>
        <p:txBody>
          <a:bodyPr/>
          <a:lstStyle/>
          <a:p>
            <a:pPr algn="ctr"/>
            <a:r>
              <a:rPr lang="en-IN" dirty="0"/>
              <a:t>Data Visualization</a:t>
            </a:r>
          </a:p>
        </p:txBody>
      </p:sp>
    </p:spTree>
    <p:extLst>
      <p:ext uri="{BB962C8B-B14F-4D97-AF65-F5344CB8AC3E}">
        <p14:creationId xmlns:p14="http://schemas.microsoft.com/office/powerpoint/2010/main" val="1646467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B46086-717C-6DD6-09E6-6F60CC78BD79}"/>
              </a:ext>
            </a:extLst>
          </p:cNvPr>
          <p:cNvPicPr>
            <a:picLocks noChangeAspect="1"/>
          </p:cNvPicPr>
          <p:nvPr/>
        </p:nvPicPr>
        <p:blipFill>
          <a:blip r:embed="rId2"/>
          <a:stretch>
            <a:fillRect/>
          </a:stretch>
        </p:blipFill>
        <p:spPr>
          <a:xfrm>
            <a:off x="1325466" y="444738"/>
            <a:ext cx="9541067" cy="3962743"/>
          </a:xfrm>
          <a:prstGeom prst="rect">
            <a:avLst/>
          </a:prstGeom>
        </p:spPr>
      </p:pic>
      <p:sp>
        <p:nvSpPr>
          <p:cNvPr id="7" name="TextBox 6">
            <a:extLst>
              <a:ext uri="{FF2B5EF4-FFF2-40B4-BE49-F238E27FC236}">
                <a16:creationId xmlns:a16="http://schemas.microsoft.com/office/drawing/2014/main" id="{0E039C2F-F3E3-EDAA-C72C-C0705A223E1A}"/>
              </a:ext>
            </a:extLst>
          </p:cNvPr>
          <p:cNvSpPr txBox="1"/>
          <p:nvPr/>
        </p:nvSpPr>
        <p:spPr>
          <a:xfrm>
            <a:off x="1325466" y="4955458"/>
            <a:ext cx="9541067" cy="1200329"/>
          </a:xfrm>
          <a:prstGeom prst="rect">
            <a:avLst/>
          </a:prstGeom>
          <a:noFill/>
        </p:spPr>
        <p:txBody>
          <a:bodyPr wrap="square" rtlCol="0">
            <a:spAutoFit/>
          </a:bodyPr>
          <a:lstStyle/>
          <a:p>
            <a:pPr marL="342900" indent="-342900">
              <a:buAutoNum type="arabicParenR"/>
            </a:pPr>
            <a:r>
              <a:rPr lang="en-US" dirty="0"/>
              <a:t>It visually tracks actual solar generation against the grid operator's predictions over a 14-day period.</a:t>
            </a:r>
          </a:p>
          <a:p>
            <a:pPr marL="342900" indent="-342900">
              <a:buAutoNum type="arabicParenR"/>
            </a:pPr>
            <a:r>
              <a:rPr lang="en-US" dirty="0"/>
              <a:t> It highlights massive, unpredicted intra-day generation crashes (specifically around January 7th) where the forecast completely failed.</a:t>
            </a:r>
            <a:endParaRPr lang="en-IN" dirty="0"/>
          </a:p>
        </p:txBody>
      </p:sp>
    </p:spTree>
    <p:extLst>
      <p:ext uri="{BB962C8B-B14F-4D97-AF65-F5344CB8AC3E}">
        <p14:creationId xmlns:p14="http://schemas.microsoft.com/office/powerpoint/2010/main" val="820838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60F8FB-6A31-D8A1-D7EB-F996D46A8920}"/>
              </a:ext>
            </a:extLst>
          </p:cNvPr>
          <p:cNvPicPr>
            <a:picLocks noChangeAspect="1"/>
          </p:cNvPicPr>
          <p:nvPr/>
        </p:nvPicPr>
        <p:blipFill>
          <a:blip r:embed="rId2"/>
          <a:stretch>
            <a:fillRect/>
          </a:stretch>
        </p:blipFill>
        <p:spPr>
          <a:xfrm>
            <a:off x="2709975" y="232558"/>
            <a:ext cx="6614733" cy="4791726"/>
          </a:xfrm>
          <a:prstGeom prst="rect">
            <a:avLst/>
          </a:prstGeom>
        </p:spPr>
      </p:pic>
      <p:sp>
        <p:nvSpPr>
          <p:cNvPr id="5" name="TextBox 4">
            <a:extLst>
              <a:ext uri="{FF2B5EF4-FFF2-40B4-BE49-F238E27FC236}">
                <a16:creationId xmlns:a16="http://schemas.microsoft.com/office/drawing/2014/main" id="{D33BE693-FB85-2F02-8125-FBC7D3873C4A}"/>
              </a:ext>
            </a:extLst>
          </p:cNvPr>
          <p:cNvSpPr txBox="1"/>
          <p:nvPr/>
        </p:nvSpPr>
        <p:spPr>
          <a:xfrm>
            <a:off x="2709975" y="5525729"/>
            <a:ext cx="6614733" cy="923330"/>
          </a:xfrm>
          <a:prstGeom prst="rect">
            <a:avLst/>
          </a:prstGeom>
          <a:noFill/>
        </p:spPr>
        <p:txBody>
          <a:bodyPr wrap="square" rtlCol="0">
            <a:spAutoFit/>
          </a:bodyPr>
          <a:lstStyle/>
          <a:p>
            <a:r>
              <a:rPr lang="en-US" dirty="0"/>
              <a:t>The forecast solar day ahead is nearly perfectly correlated (0.99) with actual generation, confirming it as the primary mathematical anchor for the predictions.</a:t>
            </a:r>
            <a:endParaRPr lang="en-IN" dirty="0"/>
          </a:p>
        </p:txBody>
      </p:sp>
    </p:spTree>
    <p:extLst>
      <p:ext uri="{BB962C8B-B14F-4D97-AF65-F5344CB8AC3E}">
        <p14:creationId xmlns:p14="http://schemas.microsoft.com/office/powerpoint/2010/main" val="4204452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097332-0C28-6274-95A2-87449E98C356}"/>
              </a:ext>
            </a:extLst>
          </p:cNvPr>
          <p:cNvPicPr>
            <a:picLocks noChangeAspect="1"/>
          </p:cNvPicPr>
          <p:nvPr/>
        </p:nvPicPr>
        <p:blipFill>
          <a:blip r:embed="rId2"/>
          <a:stretch>
            <a:fillRect/>
          </a:stretch>
        </p:blipFill>
        <p:spPr>
          <a:xfrm>
            <a:off x="1504334" y="108551"/>
            <a:ext cx="9379975" cy="4778082"/>
          </a:xfrm>
          <a:prstGeom prst="rect">
            <a:avLst/>
          </a:prstGeom>
        </p:spPr>
      </p:pic>
      <p:sp>
        <p:nvSpPr>
          <p:cNvPr id="4" name="TextBox 3">
            <a:extLst>
              <a:ext uri="{FF2B5EF4-FFF2-40B4-BE49-F238E27FC236}">
                <a16:creationId xmlns:a16="http://schemas.microsoft.com/office/drawing/2014/main" id="{887E4264-1F71-04D4-EFA7-69055CA63720}"/>
              </a:ext>
            </a:extLst>
          </p:cNvPr>
          <p:cNvSpPr txBox="1"/>
          <p:nvPr/>
        </p:nvSpPr>
        <p:spPr>
          <a:xfrm>
            <a:off x="1504334" y="5279923"/>
            <a:ext cx="9379975" cy="646331"/>
          </a:xfrm>
          <a:prstGeom prst="rect">
            <a:avLst/>
          </a:prstGeom>
          <a:noFill/>
        </p:spPr>
        <p:txBody>
          <a:bodyPr wrap="square" rtlCol="0">
            <a:spAutoFit/>
          </a:bodyPr>
          <a:lstStyle/>
          <a:p>
            <a:pPr marL="342900" indent="-342900">
              <a:buAutoNum type="arabicParenR"/>
            </a:pPr>
            <a:r>
              <a:rPr lang="en-IN" dirty="0"/>
              <a:t>Distributed timeseries data on an hourly basis</a:t>
            </a:r>
          </a:p>
          <a:p>
            <a:pPr marL="342900" indent="-342900">
              <a:buAutoNum type="arabicParenR"/>
            </a:pPr>
            <a:r>
              <a:rPr lang="en-US" dirty="0"/>
              <a:t>Most energy is produced during Hour 8 to Hour 17 (9 hours)</a:t>
            </a:r>
            <a:endParaRPr lang="en-IN" dirty="0"/>
          </a:p>
        </p:txBody>
      </p:sp>
    </p:spTree>
    <p:extLst>
      <p:ext uri="{BB962C8B-B14F-4D97-AF65-F5344CB8AC3E}">
        <p14:creationId xmlns:p14="http://schemas.microsoft.com/office/powerpoint/2010/main" val="3598124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814351-08CB-A3B1-38BF-9C551186530A}"/>
              </a:ext>
            </a:extLst>
          </p:cNvPr>
          <p:cNvPicPr>
            <a:picLocks noChangeAspect="1"/>
          </p:cNvPicPr>
          <p:nvPr/>
        </p:nvPicPr>
        <p:blipFill>
          <a:blip r:embed="rId2"/>
          <a:stretch>
            <a:fillRect/>
          </a:stretch>
        </p:blipFill>
        <p:spPr>
          <a:xfrm>
            <a:off x="1268311" y="326670"/>
            <a:ext cx="10048618" cy="3468581"/>
          </a:xfrm>
          <a:prstGeom prst="rect">
            <a:avLst/>
          </a:prstGeom>
        </p:spPr>
      </p:pic>
      <p:sp>
        <p:nvSpPr>
          <p:cNvPr id="4" name="TextBox 3">
            <a:extLst>
              <a:ext uri="{FF2B5EF4-FFF2-40B4-BE49-F238E27FC236}">
                <a16:creationId xmlns:a16="http://schemas.microsoft.com/office/drawing/2014/main" id="{7820B9DB-ACF4-1574-0164-EB28996EC127}"/>
              </a:ext>
            </a:extLst>
          </p:cNvPr>
          <p:cNvSpPr txBox="1"/>
          <p:nvPr/>
        </p:nvSpPr>
        <p:spPr>
          <a:xfrm>
            <a:off x="1268311" y="4139381"/>
            <a:ext cx="10048618" cy="2308324"/>
          </a:xfrm>
          <a:prstGeom prst="rect">
            <a:avLst/>
          </a:prstGeom>
          <a:noFill/>
        </p:spPr>
        <p:txBody>
          <a:bodyPr wrap="square" rtlCol="0">
            <a:spAutoFit/>
          </a:bodyPr>
          <a:lstStyle/>
          <a:p>
            <a:pPr marL="342900" indent="-342900">
              <a:buAutoNum type="arabicParenR"/>
            </a:pPr>
            <a:r>
              <a:rPr lang="en-US" dirty="0"/>
              <a:t>This visualization represents Autocorrelation Function (ACF) and Partial Autocorrelation Function (PACF) plots for the generation solar variable over a 48-hour period. These graphs statistically measure how strongly current solar energy generation correlates with past hourly generation data.</a:t>
            </a:r>
          </a:p>
          <a:p>
            <a:pPr marL="342900" indent="-342900">
              <a:buAutoNum type="arabicParenR"/>
            </a:pPr>
            <a:r>
              <a:rPr lang="en-US" dirty="0"/>
              <a:t> The ACF plot on the left exhibits a continuous sine-wave pattern with major positive peaks at exactly 24 and 48 hours. This mathematically visualizes the repeating daily cycle of the sun.3) The PACF plot on the right isolates the direct relationship of specific past hours without the trailing momentum of intermediate hours. The massive spikes at Lag 1 and Lag 2 indicate that the generation output from one and two hours prior are dominant predictive signals.</a:t>
            </a:r>
            <a:endParaRPr lang="en-IN" dirty="0"/>
          </a:p>
        </p:txBody>
      </p:sp>
    </p:spTree>
    <p:extLst>
      <p:ext uri="{BB962C8B-B14F-4D97-AF65-F5344CB8AC3E}">
        <p14:creationId xmlns:p14="http://schemas.microsoft.com/office/powerpoint/2010/main" val="2073816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8F405E-B995-7B41-36E3-59C022D6D8ED}"/>
              </a:ext>
            </a:extLst>
          </p:cNvPr>
          <p:cNvPicPr>
            <a:picLocks noChangeAspect="1"/>
          </p:cNvPicPr>
          <p:nvPr/>
        </p:nvPicPr>
        <p:blipFill>
          <a:blip r:embed="rId2"/>
          <a:stretch>
            <a:fillRect/>
          </a:stretch>
        </p:blipFill>
        <p:spPr>
          <a:xfrm>
            <a:off x="1325466" y="253982"/>
            <a:ext cx="10011128" cy="4042716"/>
          </a:xfrm>
          <a:prstGeom prst="rect">
            <a:avLst/>
          </a:prstGeom>
        </p:spPr>
      </p:pic>
      <p:sp>
        <p:nvSpPr>
          <p:cNvPr id="4" name="TextBox 3">
            <a:extLst>
              <a:ext uri="{FF2B5EF4-FFF2-40B4-BE49-F238E27FC236}">
                <a16:creationId xmlns:a16="http://schemas.microsoft.com/office/drawing/2014/main" id="{0A569758-6FAC-CFF6-14A8-524107A9D52E}"/>
              </a:ext>
            </a:extLst>
          </p:cNvPr>
          <p:cNvSpPr txBox="1"/>
          <p:nvPr/>
        </p:nvSpPr>
        <p:spPr>
          <a:xfrm>
            <a:off x="1325466" y="4650658"/>
            <a:ext cx="10011128" cy="2031325"/>
          </a:xfrm>
          <a:prstGeom prst="rect">
            <a:avLst/>
          </a:prstGeom>
          <a:noFill/>
        </p:spPr>
        <p:txBody>
          <a:bodyPr wrap="square" rtlCol="0">
            <a:spAutoFit/>
          </a:bodyPr>
          <a:lstStyle/>
          <a:p>
            <a:pPr marL="342900" indent="-342900">
              <a:buAutoNum type="arabicParenR"/>
            </a:pPr>
            <a:r>
              <a:rPr lang="en-US" dirty="0"/>
              <a:t>The provided graph, titled "The Intermittency Problem: Solar Generation vs. Regional Cloud Cover," is a dual-axis time-series plot that tracks actual solar energy production against the cloud cover percentages of five cities over a five-day period in January 2015.</a:t>
            </a:r>
          </a:p>
          <a:p>
            <a:pPr marL="342900" indent="-342900">
              <a:buAutoNum type="arabicParenR"/>
            </a:pPr>
            <a:r>
              <a:rPr lang="en-US" dirty="0"/>
              <a:t>The jagged, erratic movements of the regional cloud cover lines illustrate exactly why solar generation is difficult to predict with a static baseline. A sudden localized cloud front can rapidly alter the national generation total, visually proving to the judges why your machine learning model must rely on regional weather features to capture these intra-day grid fluctuations.</a:t>
            </a:r>
            <a:endParaRPr lang="en-IN" dirty="0"/>
          </a:p>
        </p:txBody>
      </p:sp>
    </p:spTree>
    <p:extLst>
      <p:ext uri="{BB962C8B-B14F-4D97-AF65-F5344CB8AC3E}">
        <p14:creationId xmlns:p14="http://schemas.microsoft.com/office/powerpoint/2010/main" val="2717925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579E1-D35A-FC53-2FD1-EEC2D02E2B37}"/>
              </a:ext>
            </a:extLst>
          </p:cNvPr>
          <p:cNvSpPr>
            <a:spLocks noGrp="1"/>
          </p:cNvSpPr>
          <p:nvPr>
            <p:ph type="title"/>
          </p:nvPr>
        </p:nvSpPr>
        <p:spPr>
          <a:xfrm>
            <a:off x="1295400" y="2686050"/>
            <a:ext cx="9601200" cy="1485900"/>
          </a:xfrm>
        </p:spPr>
        <p:txBody>
          <a:bodyPr/>
          <a:lstStyle/>
          <a:p>
            <a:pPr algn="ctr"/>
            <a:r>
              <a:rPr lang="en-IN" dirty="0"/>
              <a:t>Data Encoding &amp; Train/Test Split</a:t>
            </a:r>
          </a:p>
        </p:txBody>
      </p:sp>
    </p:spTree>
    <p:extLst>
      <p:ext uri="{BB962C8B-B14F-4D97-AF65-F5344CB8AC3E}">
        <p14:creationId xmlns:p14="http://schemas.microsoft.com/office/powerpoint/2010/main" val="1214386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6C1DE-3B0E-1E4D-CEE0-88522C967F30}"/>
              </a:ext>
            </a:extLst>
          </p:cNvPr>
          <p:cNvSpPr>
            <a:spLocks noGrp="1"/>
          </p:cNvSpPr>
          <p:nvPr>
            <p:ph type="title"/>
          </p:nvPr>
        </p:nvSpPr>
        <p:spPr/>
        <p:txBody>
          <a:bodyPr/>
          <a:lstStyle/>
          <a:p>
            <a:r>
              <a:rPr lang="en-IN" dirty="0"/>
              <a:t>Data Encoding</a:t>
            </a:r>
          </a:p>
        </p:txBody>
      </p:sp>
      <p:pic>
        <p:nvPicPr>
          <p:cNvPr id="4" name="Picture 3">
            <a:extLst>
              <a:ext uri="{FF2B5EF4-FFF2-40B4-BE49-F238E27FC236}">
                <a16:creationId xmlns:a16="http://schemas.microsoft.com/office/drawing/2014/main" id="{1A1F0A4F-BB53-320E-4D7A-54C9B79C82D1}"/>
              </a:ext>
            </a:extLst>
          </p:cNvPr>
          <p:cNvPicPr>
            <a:picLocks noChangeAspect="1"/>
          </p:cNvPicPr>
          <p:nvPr/>
        </p:nvPicPr>
        <p:blipFill>
          <a:blip r:embed="rId2"/>
          <a:stretch>
            <a:fillRect/>
          </a:stretch>
        </p:blipFill>
        <p:spPr>
          <a:xfrm>
            <a:off x="1333087" y="1877961"/>
            <a:ext cx="9525825" cy="2890684"/>
          </a:xfrm>
          <a:prstGeom prst="rect">
            <a:avLst/>
          </a:prstGeom>
        </p:spPr>
      </p:pic>
    </p:spTree>
    <p:extLst>
      <p:ext uri="{BB962C8B-B14F-4D97-AF65-F5344CB8AC3E}">
        <p14:creationId xmlns:p14="http://schemas.microsoft.com/office/powerpoint/2010/main" val="928523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52A4-67D3-DE81-E018-CAD1B2CE49FC}"/>
              </a:ext>
            </a:extLst>
          </p:cNvPr>
          <p:cNvSpPr>
            <a:spLocks noGrp="1"/>
          </p:cNvSpPr>
          <p:nvPr>
            <p:ph type="title"/>
          </p:nvPr>
        </p:nvSpPr>
        <p:spPr/>
        <p:txBody>
          <a:bodyPr/>
          <a:lstStyle/>
          <a:p>
            <a:r>
              <a:rPr lang="en-IN" dirty="0"/>
              <a:t>Train/Test Split</a:t>
            </a:r>
          </a:p>
        </p:txBody>
      </p:sp>
      <p:pic>
        <p:nvPicPr>
          <p:cNvPr id="4" name="Picture 3">
            <a:extLst>
              <a:ext uri="{FF2B5EF4-FFF2-40B4-BE49-F238E27FC236}">
                <a16:creationId xmlns:a16="http://schemas.microsoft.com/office/drawing/2014/main" id="{89A97169-44AF-1931-475A-A4E75835B5E7}"/>
              </a:ext>
            </a:extLst>
          </p:cNvPr>
          <p:cNvPicPr>
            <a:picLocks noChangeAspect="1"/>
          </p:cNvPicPr>
          <p:nvPr/>
        </p:nvPicPr>
        <p:blipFill>
          <a:blip r:embed="rId2"/>
          <a:stretch>
            <a:fillRect/>
          </a:stretch>
        </p:blipFill>
        <p:spPr>
          <a:xfrm>
            <a:off x="1371600" y="1944838"/>
            <a:ext cx="9548687" cy="762066"/>
          </a:xfrm>
          <a:prstGeom prst="rect">
            <a:avLst/>
          </a:prstGeom>
        </p:spPr>
      </p:pic>
      <p:pic>
        <p:nvPicPr>
          <p:cNvPr id="6" name="Picture 5">
            <a:extLst>
              <a:ext uri="{FF2B5EF4-FFF2-40B4-BE49-F238E27FC236}">
                <a16:creationId xmlns:a16="http://schemas.microsoft.com/office/drawing/2014/main" id="{CCB41578-F654-BC1B-87BE-0F3FDCC29F71}"/>
              </a:ext>
            </a:extLst>
          </p:cNvPr>
          <p:cNvPicPr>
            <a:picLocks noChangeAspect="1"/>
          </p:cNvPicPr>
          <p:nvPr/>
        </p:nvPicPr>
        <p:blipFill>
          <a:blip r:embed="rId3"/>
          <a:stretch>
            <a:fillRect/>
          </a:stretch>
        </p:blipFill>
        <p:spPr>
          <a:xfrm>
            <a:off x="1264910" y="3242108"/>
            <a:ext cx="9655377" cy="1828958"/>
          </a:xfrm>
          <a:prstGeom prst="rect">
            <a:avLst/>
          </a:prstGeom>
        </p:spPr>
      </p:pic>
    </p:spTree>
    <p:extLst>
      <p:ext uri="{BB962C8B-B14F-4D97-AF65-F5344CB8AC3E}">
        <p14:creationId xmlns:p14="http://schemas.microsoft.com/office/powerpoint/2010/main" val="3612428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7FCB1-DBDB-45C1-26BB-0C5515FB1ACF}"/>
              </a:ext>
            </a:extLst>
          </p:cNvPr>
          <p:cNvSpPr>
            <a:spLocks noGrp="1"/>
          </p:cNvSpPr>
          <p:nvPr>
            <p:ph type="title"/>
          </p:nvPr>
        </p:nvSpPr>
        <p:spPr>
          <a:xfrm>
            <a:off x="1295400" y="2686050"/>
            <a:ext cx="9601200" cy="1485900"/>
          </a:xfrm>
        </p:spPr>
        <p:txBody>
          <a:bodyPr/>
          <a:lstStyle/>
          <a:p>
            <a:pPr algn="ctr"/>
            <a:r>
              <a:rPr lang="en-IN" dirty="0"/>
              <a:t>Model Fitting</a:t>
            </a:r>
          </a:p>
        </p:txBody>
      </p:sp>
    </p:spTree>
    <p:extLst>
      <p:ext uri="{BB962C8B-B14F-4D97-AF65-F5344CB8AC3E}">
        <p14:creationId xmlns:p14="http://schemas.microsoft.com/office/powerpoint/2010/main" val="746604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CB2E-A469-83A2-46C2-E6FC59B16548}"/>
              </a:ext>
            </a:extLst>
          </p:cNvPr>
          <p:cNvSpPr>
            <a:spLocks noGrp="1"/>
          </p:cNvSpPr>
          <p:nvPr>
            <p:ph type="title"/>
          </p:nvPr>
        </p:nvSpPr>
        <p:spPr/>
        <p:txBody>
          <a:bodyPr/>
          <a:lstStyle/>
          <a:p>
            <a:r>
              <a:rPr lang="en-IN" dirty="0"/>
              <a:t>Linear Regression</a:t>
            </a:r>
          </a:p>
        </p:txBody>
      </p:sp>
      <p:pic>
        <p:nvPicPr>
          <p:cNvPr id="6" name="Picture 5">
            <a:extLst>
              <a:ext uri="{FF2B5EF4-FFF2-40B4-BE49-F238E27FC236}">
                <a16:creationId xmlns:a16="http://schemas.microsoft.com/office/drawing/2014/main" id="{7F310275-7D44-A0A1-463A-0F92B80FA068}"/>
              </a:ext>
            </a:extLst>
          </p:cNvPr>
          <p:cNvPicPr>
            <a:picLocks noChangeAspect="1"/>
          </p:cNvPicPr>
          <p:nvPr/>
        </p:nvPicPr>
        <p:blipFill>
          <a:blip r:embed="rId2"/>
          <a:stretch>
            <a:fillRect/>
          </a:stretch>
        </p:blipFill>
        <p:spPr>
          <a:xfrm>
            <a:off x="4159045" y="1681655"/>
            <a:ext cx="3637936" cy="845235"/>
          </a:xfrm>
          <a:prstGeom prst="rect">
            <a:avLst/>
          </a:prstGeom>
        </p:spPr>
      </p:pic>
      <p:pic>
        <p:nvPicPr>
          <p:cNvPr id="8" name="Picture 7">
            <a:extLst>
              <a:ext uri="{FF2B5EF4-FFF2-40B4-BE49-F238E27FC236}">
                <a16:creationId xmlns:a16="http://schemas.microsoft.com/office/drawing/2014/main" id="{BF04D5F6-D608-CCDC-FA1E-317339807520}"/>
              </a:ext>
            </a:extLst>
          </p:cNvPr>
          <p:cNvPicPr>
            <a:picLocks noChangeAspect="1"/>
          </p:cNvPicPr>
          <p:nvPr/>
        </p:nvPicPr>
        <p:blipFill>
          <a:blip r:embed="rId3"/>
          <a:stretch>
            <a:fillRect/>
          </a:stretch>
        </p:blipFill>
        <p:spPr>
          <a:xfrm>
            <a:off x="2941179" y="2765765"/>
            <a:ext cx="6704265" cy="3406435"/>
          </a:xfrm>
          <a:prstGeom prst="rect">
            <a:avLst/>
          </a:prstGeom>
        </p:spPr>
      </p:pic>
    </p:spTree>
    <p:extLst>
      <p:ext uri="{BB962C8B-B14F-4D97-AF65-F5344CB8AC3E}">
        <p14:creationId xmlns:p14="http://schemas.microsoft.com/office/powerpoint/2010/main" val="81951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6E4B0-27E0-CAB0-E439-27EDB7F09234}"/>
              </a:ext>
            </a:extLst>
          </p:cNvPr>
          <p:cNvSpPr>
            <a:spLocks noGrp="1"/>
          </p:cNvSpPr>
          <p:nvPr>
            <p:ph type="title"/>
          </p:nvPr>
        </p:nvSpPr>
        <p:spPr/>
        <p:txBody>
          <a:bodyPr/>
          <a:lstStyle/>
          <a:p>
            <a:r>
              <a:rPr lang="en-IN" dirty="0"/>
              <a:t>Data Optimization</a:t>
            </a:r>
          </a:p>
        </p:txBody>
      </p:sp>
      <p:pic>
        <p:nvPicPr>
          <p:cNvPr id="8" name="Picture 7">
            <a:extLst>
              <a:ext uri="{FF2B5EF4-FFF2-40B4-BE49-F238E27FC236}">
                <a16:creationId xmlns:a16="http://schemas.microsoft.com/office/drawing/2014/main" id="{AD6467C1-2436-6E8C-9C2F-72F4BA43490D}"/>
              </a:ext>
            </a:extLst>
          </p:cNvPr>
          <p:cNvPicPr>
            <a:picLocks noChangeAspect="1"/>
          </p:cNvPicPr>
          <p:nvPr/>
        </p:nvPicPr>
        <p:blipFill>
          <a:blip r:embed="rId2"/>
          <a:stretch>
            <a:fillRect/>
          </a:stretch>
        </p:blipFill>
        <p:spPr>
          <a:xfrm>
            <a:off x="2540962" y="1624956"/>
            <a:ext cx="7110076" cy="4473328"/>
          </a:xfrm>
          <a:prstGeom prst="rect">
            <a:avLst/>
          </a:prstGeom>
        </p:spPr>
      </p:pic>
    </p:spTree>
    <p:extLst>
      <p:ext uri="{BB962C8B-B14F-4D97-AF65-F5344CB8AC3E}">
        <p14:creationId xmlns:p14="http://schemas.microsoft.com/office/powerpoint/2010/main" val="599602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4F158-4E9F-700E-A8CD-2BC96A3945EF}"/>
              </a:ext>
            </a:extLst>
          </p:cNvPr>
          <p:cNvSpPr>
            <a:spLocks noGrp="1"/>
          </p:cNvSpPr>
          <p:nvPr>
            <p:ph type="title"/>
          </p:nvPr>
        </p:nvSpPr>
        <p:spPr>
          <a:xfrm>
            <a:off x="1174955" y="251718"/>
            <a:ext cx="9601200" cy="1485900"/>
          </a:xfrm>
        </p:spPr>
        <p:txBody>
          <a:bodyPr/>
          <a:lstStyle/>
          <a:p>
            <a:r>
              <a:rPr lang="en-IN" dirty="0" err="1"/>
              <a:t>XGBoost</a:t>
            </a:r>
            <a:endParaRPr lang="en-IN" dirty="0"/>
          </a:p>
        </p:txBody>
      </p:sp>
      <p:pic>
        <p:nvPicPr>
          <p:cNvPr id="4" name="Picture 3">
            <a:extLst>
              <a:ext uri="{FF2B5EF4-FFF2-40B4-BE49-F238E27FC236}">
                <a16:creationId xmlns:a16="http://schemas.microsoft.com/office/drawing/2014/main" id="{F036F6C6-09DA-B9A9-5CC5-57166B6B45C2}"/>
              </a:ext>
            </a:extLst>
          </p:cNvPr>
          <p:cNvPicPr>
            <a:picLocks noChangeAspect="1"/>
          </p:cNvPicPr>
          <p:nvPr/>
        </p:nvPicPr>
        <p:blipFill>
          <a:blip r:embed="rId2"/>
          <a:stretch>
            <a:fillRect/>
          </a:stretch>
        </p:blipFill>
        <p:spPr>
          <a:xfrm>
            <a:off x="1809136" y="1195613"/>
            <a:ext cx="8691716" cy="5410669"/>
          </a:xfrm>
          <a:prstGeom prst="rect">
            <a:avLst/>
          </a:prstGeom>
        </p:spPr>
      </p:pic>
    </p:spTree>
    <p:extLst>
      <p:ext uri="{BB962C8B-B14F-4D97-AF65-F5344CB8AC3E}">
        <p14:creationId xmlns:p14="http://schemas.microsoft.com/office/powerpoint/2010/main" val="2993074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DD22-E87B-7105-A4B2-DDB3C36CF5D9}"/>
              </a:ext>
            </a:extLst>
          </p:cNvPr>
          <p:cNvSpPr>
            <a:spLocks noGrp="1"/>
          </p:cNvSpPr>
          <p:nvPr>
            <p:ph type="title"/>
          </p:nvPr>
        </p:nvSpPr>
        <p:spPr/>
        <p:txBody>
          <a:bodyPr/>
          <a:lstStyle/>
          <a:p>
            <a:r>
              <a:rPr lang="en-IN" dirty="0"/>
              <a:t>Removing ‘forecast solar day ahead’</a:t>
            </a:r>
          </a:p>
        </p:txBody>
      </p:sp>
      <p:pic>
        <p:nvPicPr>
          <p:cNvPr id="4" name="Picture 3">
            <a:extLst>
              <a:ext uri="{FF2B5EF4-FFF2-40B4-BE49-F238E27FC236}">
                <a16:creationId xmlns:a16="http://schemas.microsoft.com/office/drawing/2014/main" id="{F9EEB51A-2978-2BA5-8631-47A79D24245E}"/>
              </a:ext>
            </a:extLst>
          </p:cNvPr>
          <p:cNvPicPr>
            <a:picLocks noChangeAspect="1"/>
          </p:cNvPicPr>
          <p:nvPr/>
        </p:nvPicPr>
        <p:blipFill>
          <a:blip r:embed="rId2"/>
          <a:stretch>
            <a:fillRect/>
          </a:stretch>
        </p:blipFill>
        <p:spPr>
          <a:xfrm>
            <a:off x="1371599" y="2426398"/>
            <a:ext cx="10369651" cy="1604827"/>
          </a:xfrm>
          <a:prstGeom prst="rect">
            <a:avLst/>
          </a:prstGeom>
        </p:spPr>
      </p:pic>
    </p:spTree>
    <p:extLst>
      <p:ext uri="{BB962C8B-B14F-4D97-AF65-F5344CB8AC3E}">
        <p14:creationId xmlns:p14="http://schemas.microsoft.com/office/powerpoint/2010/main" val="3277498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BBC2-2C46-E856-E814-4F7A2B22841B}"/>
              </a:ext>
            </a:extLst>
          </p:cNvPr>
          <p:cNvSpPr>
            <a:spLocks noGrp="1"/>
          </p:cNvSpPr>
          <p:nvPr>
            <p:ph type="title"/>
          </p:nvPr>
        </p:nvSpPr>
        <p:spPr>
          <a:xfrm>
            <a:off x="1295400" y="322007"/>
            <a:ext cx="9601200" cy="1485900"/>
          </a:xfrm>
        </p:spPr>
        <p:txBody>
          <a:bodyPr/>
          <a:lstStyle/>
          <a:p>
            <a:r>
              <a:rPr lang="en-IN" dirty="0"/>
              <a:t>Modified </a:t>
            </a:r>
            <a:r>
              <a:rPr lang="en-IN" dirty="0" err="1"/>
              <a:t>XGBoost</a:t>
            </a:r>
            <a:endParaRPr lang="en-IN" dirty="0"/>
          </a:p>
        </p:txBody>
      </p:sp>
      <p:pic>
        <p:nvPicPr>
          <p:cNvPr id="4" name="Picture 3">
            <a:extLst>
              <a:ext uri="{FF2B5EF4-FFF2-40B4-BE49-F238E27FC236}">
                <a16:creationId xmlns:a16="http://schemas.microsoft.com/office/drawing/2014/main" id="{465B2E2A-201B-B41A-11AC-B978BFBF41FB}"/>
              </a:ext>
            </a:extLst>
          </p:cNvPr>
          <p:cNvPicPr>
            <a:picLocks noChangeAspect="1"/>
          </p:cNvPicPr>
          <p:nvPr/>
        </p:nvPicPr>
        <p:blipFill>
          <a:blip r:embed="rId2"/>
          <a:stretch>
            <a:fillRect/>
          </a:stretch>
        </p:blipFill>
        <p:spPr>
          <a:xfrm>
            <a:off x="1887793" y="988152"/>
            <a:ext cx="8150941" cy="5547841"/>
          </a:xfrm>
          <a:prstGeom prst="rect">
            <a:avLst/>
          </a:prstGeom>
        </p:spPr>
      </p:pic>
    </p:spTree>
    <p:extLst>
      <p:ext uri="{BB962C8B-B14F-4D97-AF65-F5344CB8AC3E}">
        <p14:creationId xmlns:p14="http://schemas.microsoft.com/office/powerpoint/2010/main" val="2538586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6A1B0-5AD4-2919-A0E8-C8F95FAAEC5A}"/>
              </a:ext>
            </a:extLst>
          </p:cNvPr>
          <p:cNvSpPr>
            <a:spLocks noGrp="1"/>
          </p:cNvSpPr>
          <p:nvPr>
            <p:ph type="title"/>
          </p:nvPr>
        </p:nvSpPr>
        <p:spPr>
          <a:xfrm>
            <a:off x="1295400" y="184354"/>
            <a:ext cx="9601200" cy="1485900"/>
          </a:xfrm>
        </p:spPr>
        <p:txBody>
          <a:bodyPr/>
          <a:lstStyle/>
          <a:p>
            <a:r>
              <a:rPr lang="en-IN" dirty="0" err="1"/>
              <a:t>XGBoost</a:t>
            </a:r>
            <a:r>
              <a:rPr lang="en-IN" dirty="0"/>
              <a:t> (Fine Tuning)</a:t>
            </a:r>
          </a:p>
        </p:txBody>
      </p:sp>
      <p:pic>
        <p:nvPicPr>
          <p:cNvPr id="8" name="Picture 7">
            <a:extLst>
              <a:ext uri="{FF2B5EF4-FFF2-40B4-BE49-F238E27FC236}">
                <a16:creationId xmlns:a16="http://schemas.microsoft.com/office/drawing/2014/main" id="{EA054B08-51B9-6DE9-2611-17162F5DA554}"/>
              </a:ext>
            </a:extLst>
          </p:cNvPr>
          <p:cNvPicPr>
            <a:picLocks noChangeAspect="1"/>
          </p:cNvPicPr>
          <p:nvPr/>
        </p:nvPicPr>
        <p:blipFill>
          <a:blip r:embed="rId2"/>
          <a:stretch>
            <a:fillRect/>
          </a:stretch>
        </p:blipFill>
        <p:spPr>
          <a:xfrm>
            <a:off x="1936955" y="927304"/>
            <a:ext cx="8632722" cy="5806943"/>
          </a:xfrm>
          <a:prstGeom prst="rect">
            <a:avLst/>
          </a:prstGeom>
        </p:spPr>
      </p:pic>
    </p:spTree>
    <p:extLst>
      <p:ext uri="{BB962C8B-B14F-4D97-AF65-F5344CB8AC3E}">
        <p14:creationId xmlns:p14="http://schemas.microsoft.com/office/powerpoint/2010/main" val="36072721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0B126-370B-72A0-AE8D-2D859061F759}"/>
              </a:ext>
            </a:extLst>
          </p:cNvPr>
          <p:cNvSpPr>
            <a:spLocks noGrp="1"/>
          </p:cNvSpPr>
          <p:nvPr>
            <p:ph type="title"/>
          </p:nvPr>
        </p:nvSpPr>
        <p:spPr/>
        <p:txBody>
          <a:bodyPr/>
          <a:lstStyle/>
          <a:p>
            <a:r>
              <a:rPr lang="en-IN" dirty="0"/>
              <a:t>Random Forest Regressor</a:t>
            </a:r>
          </a:p>
        </p:txBody>
      </p:sp>
      <p:pic>
        <p:nvPicPr>
          <p:cNvPr id="4" name="Picture 3">
            <a:extLst>
              <a:ext uri="{FF2B5EF4-FFF2-40B4-BE49-F238E27FC236}">
                <a16:creationId xmlns:a16="http://schemas.microsoft.com/office/drawing/2014/main" id="{E1CDD94A-AE3D-3E09-1FBD-9CF6540C0C47}"/>
              </a:ext>
            </a:extLst>
          </p:cNvPr>
          <p:cNvPicPr>
            <a:picLocks noChangeAspect="1"/>
          </p:cNvPicPr>
          <p:nvPr/>
        </p:nvPicPr>
        <p:blipFill>
          <a:blip r:embed="rId2"/>
          <a:stretch>
            <a:fillRect/>
          </a:stretch>
        </p:blipFill>
        <p:spPr>
          <a:xfrm>
            <a:off x="1681316" y="1693025"/>
            <a:ext cx="9139083" cy="4479175"/>
          </a:xfrm>
          <a:prstGeom prst="rect">
            <a:avLst/>
          </a:prstGeom>
        </p:spPr>
      </p:pic>
    </p:spTree>
    <p:extLst>
      <p:ext uri="{BB962C8B-B14F-4D97-AF65-F5344CB8AC3E}">
        <p14:creationId xmlns:p14="http://schemas.microsoft.com/office/powerpoint/2010/main" val="3671994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5D64-9DB9-8B69-3453-6E6C64E222CB}"/>
              </a:ext>
            </a:extLst>
          </p:cNvPr>
          <p:cNvSpPr>
            <a:spLocks noGrp="1"/>
          </p:cNvSpPr>
          <p:nvPr>
            <p:ph type="title"/>
          </p:nvPr>
        </p:nvSpPr>
        <p:spPr>
          <a:xfrm>
            <a:off x="1295400" y="184355"/>
            <a:ext cx="9601200" cy="1485900"/>
          </a:xfrm>
        </p:spPr>
        <p:txBody>
          <a:bodyPr/>
          <a:lstStyle/>
          <a:p>
            <a:r>
              <a:rPr lang="en-IN" dirty="0"/>
              <a:t>Final Model</a:t>
            </a:r>
          </a:p>
        </p:txBody>
      </p:sp>
      <p:pic>
        <p:nvPicPr>
          <p:cNvPr id="4" name="Picture 3">
            <a:extLst>
              <a:ext uri="{FF2B5EF4-FFF2-40B4-BE49-F238E27FC236}">
                <a16:creationId xmlns:a16="http://schemas.microsoft.com/office/drawing/2014/main" id="{166DCDA4-4689-647C-BA33-2AD9AE11647D}"/>
              </a:ext>
            </a:extLst>
          </p:cNvPr>
          <p:cNvPicPr>
            <a:picLocks noChangeAspect="1"/>
          </p:cNvPicPr>
          <p:nvPr/>
        </p:nvPicPr>
        <p:blipFill>
          <a:blip r:embed="rId2"/>
          <a:stretch>
            <a:fillRect/>
          </a:stretch>
        </p:blipFill>
        <p:spPr>
          <a:xfrm>
            <a:off x="2251588" y="819269"/>
            <a:ext cx="8278760" cy="5730737"/>
          </a:xfrm>
          <a:prstGeom prst="rect">
            <a:avLst/>
          </a:prstGeom>
        </p:spPr>
      </p:pic>
    </p:spTree>
    <p:extLst>
      <p:ext uri="{BB962C8B-B14F-4D97-AF65-F5344CB8AC3E}">
        <p14:creationId xmlns:p14="http://schemas.microsoft.com/office/powerpoint/2010/main" val="3306554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3C6A-782E-B6BB-9A4C-A5ABF453F166}"/>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E9294A6C-0006-6E99-FF23-F20F949862DE}"/>
              </a:ext>
            </a:extLst>
          </p:cNvPr>
          <p:cNvSpPr>
            <a:spLocks noGrp="1"/>
          </p:cNvSpPr>
          <p:nvPr>
            <p:ph idx="1"/>
          </p:nvPr>
        </p:nvSpPr>
        <p:spPr/>
        <p:txBody>
          <a:bodyPr/>
          <a:lstStyle/>
          <a:p>
            <a:pPr lvl="0"/>
            <a:r>
              <a:rPr lang="en-IN" b="1" dirty="0"/>
              <a:t>Stabilizing the Grid:</a:t>
            </a:r>
            <a:r>
              <a:rPr lang="en-IN" dirty="0"/>
              <a:t> Fusing localized meteorological data with historical NREL solar output directly predicts short-term generation drops, neutralizing the grid's reliance on backup fossil-fuel peaker plants.</a:t>
            </a:r>
          </a:p>
          <a:p>
            <a:pPr lvl="0"/>
            <a:r>
              <a:rPr lang="en-IN" b="1" dirty="0"/>
              <a:t>Measurable Sustainability:</a:t>
            </a:r>
            <a:r>
              <a:rPr lang="en-IN" dirty="0"/>
              <a:t> Our forecasting pipeline minimizes grid curtailment waste, directly advancing UN SDGs 7 (Clean Energy), 9 (Innovation), 12 (Responsible Consumption), and 13 (Climate Action).</a:t>
            </a:r>
          </a:p>
          <a:p>
            <a:pPr lvl="0"/>
            <a:r>
              <a:rPr lang="en-IN" b="1" dirty="0"/>
              <a:t>Scalable Architecture:</a:t>
            </a:r>
            <a:r>
              <a:rPr lang="en-IN" dirty="0"/>
              <a:t> Built on robust, tree-based and time-series </a:t>
            </a:r>
            <a:r>
              <a:rPr lang="en-IN" dirty="0" err="1"/>
              <a:t>modeling</a:t>
            </a:r>
            <a:r>
              <a:rPr lang="en-IN" dirty="0"/>
              <a:t>, the data pipeline is designed to seamlessly integrate live satellite cloud-imagery and scale across diverse geographic grid networks.</a:t>
            </a:r>
          </a:p>
          <a:p>
            <a:endParaRPr lang="en-IN" dirty="0"/>
          </a:p>
        </p:txBody>
      </p:sp>
    </p:spTree>
    <p:extLst>
      <p:ext uri="{BB962C8B-B14F-4D97-AF65-F5344CB8AC3E}">
        <p14:creationId xmlns:p14="http://schemas.microsoft.com/office/powerpoint/2010/main" val="335462954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{1A71EF3C-F6E5-4888-A205-19A54F2B3E31}TFc3084226-2d0c-440f-9f46-6b48c7a7f670e6ba4a85-fc4a2881d6b3</Template>
  <TotalTime>70</TotalTime>
  <Words>647</Words>
  <Application>Microsoft Office PowerPoint</Application>
  <PresentationFormat>Widescreen</PresentationFormat>
  <Paragraphs>49</Paragraphs>
  <Slides>30</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Franklin Gothic Book</vt:lpstr>
      <vt:lpstr>Crop</vt:lpstr>
      <vt:lpstr>Renewable Energy Generation Forecasting</vt:lpstr>
      <vt:lpstr>energy_dataset Info</vt:lpstr>
      <vt:lpstr>Data Preprocessing &amp; Feature Engineering</vt:lpstr>
      <vt:lpstr>Engineering the Forecasting Dataset </vt:lpstr>
      <vt:lpstr>Final Dataset</vt:lpstr>
      <vt:lpstr>Distributing data into Categorical &amp; numerical columns</vt:lpstr>
      <vt:lpstr>Outlier Treatment</vt:lpstr>
      <vt:lpstr>PowerPoint Presentation</vt:lpstr>
      <vt:lpstr>Method 1 (Converting into logs)</vt:lpstr>
      <vt:lpstr>Method 2 (winsorization skewness)</vt:lpstr>
      <vt:lpstr>Method 3 (Quantile Transformation)</vt:lpstr>
      <vt:lpstr>Data Visualization</vt:lpstr>
      <vt:lpstr>PowerPoint Presentation</vt:lpstr>
      <vt:lpstr>PowerPoint Presentation</vt:lpstr>
      <vt:lpstr>PowerPoint Presentation</vt:lpstr>
      <vt:lpstr>PowerPoint Presentation</vt:lpstr>
      <vt:lpstr>PowerPoint Presentation</vt:lpstr>
      <vt:lpstr>Data Encoding &amp; Train/Test Split</vt:lpstr>
      <vt:lpstr>Data Encoding</vt:lpstr>
      <vt:lpstr>Train/Test Split</vt:lpstr>
      <vt:lpstr>Model Fitting</vt:lpstr>
      <vt:lpstr>Linear Regression</vt:lpstr>
      <vt:lpstr>Data Optimization</vt:lpstr>
      <vt:lpstr>XGBoost</vt:lpstr>
      <vt:lpstr>Removing ‘forecast solar day ahead’</vt:lpstr>
      <vt:lpstr>Modified XGBoost</vt:lpstr>
      <vt:lpstr>XGBoost (Fine Tuning)</vt:lpstr>
      <vt:lpstr>Random Forest Regressor</vt:lpstr>
      <vt:lpstr>Final Model</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hassan shah</dc:creator>
  <cp:lastModifiedBy>hassan shah</cp:lastModifiedBy>
  <cp:revision>1</cp:revision>
  <dcterms:created xsi:type="dcterms:W3CDTF">2026-09-24T20:22:46Z</dcterms:created>
  <dcterms:modified xsi:type="dcterms:W3CDTF">2026-09-24T21:32:47Z</dcterms:modified>
</cp:coreProperties>
</file>
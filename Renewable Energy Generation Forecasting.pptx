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1" r:id="rId5"/>
    <p:sldId id="260" r:id="rId6"/>
    <p:sldId id="257" r:id="rId7"/>
    <p:sldId id="262" r:id="rId8"/>
    <p:sldId id="263" r:id="rId9"/>
    <p:sldId id="264" r:id="rId10"/>
    <p:sldId id="265" r:id="rId11"/>
  </p:sldIdLst>
  <p:sldSz cx="12192000" cy="6858000"/>
  <p:notesSz cx="6858000" cy="9144000"/>
  <p:embeddedFontLst>
    <p:embeddedFont>
      <p:font typeface="Inter"/>
      <p:bold r:id="rId1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ssan shah" userId="5d56aa412ecec588" providerId="LiveId" clId="{5C82322D-4064-4147-8478-0F1BF2690D62}"/>
    <pc:docChg chg="modSld sldOrd">
      <pc:chgData name="hassan shah" userId="5d56aa412ecec588" providerId="LiveId" clId="{5C82322D-4064-4147-8478-0F1BF2690D62}" dt="2026-09-25T03:52:26.915" v="5"/>
      <pc:docMkLst>
        <pc:docMk/>
      </pc:docMkLst>
      <pc:sldChg chg="ord">
        <pc:chgData name="hassan shah" userId="5d56aa412ecec588" providerId="LiveId" clId="{5C82322D-4064-4147-8478-0F1BF2690D62}" dt="2026-09-25T03:52:18.860" v="3"/>
        <pc:sldMkLst>
          <pc:docMk/>
          <pc:sldMk cId="0" sldId="257"/>
        </pc:sldMkLst>
      </pc:sldChg>
      <pc:sldChg chg="ord">
        <pc:chgData name="hassan shah" userId="5d56aa412ecec588" providerId="LiveId" clId="{5C82322D-4064-4147-8478-0F1BF2690D62}" dt="2026-09-25T03:52:26.915" v="5"/>
        <pc:sldMkLst>
          <pc:docMk/>
          <pc:sldMk cId="0" sldId="261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43000" y="4230885"/>
            <a:ext cx="762000" cy="5715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43000" y="1988939"/>
            <a:ext cx="110490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8BDF8"/>
                </a:solidFill>
                <a:latin typeface="Inter"/>
              </a:rPr>
              <a:t>PREDICTIVE MODELING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417564"/>
            <a:ext cx="10101262" cy="15085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5940"/>
              </a:lnSpc>
            </a:pPr>
            <a:r>
              <a:rPr sz="5400" b="1" i="0" u="none">
                <a:solidFill>
                  <a:srgbClr val="F8FAFC"/>
                </a:solidFill>
                <a:latin typeface="Inter"/>
              </a:rPr>
              <a:t>Renewable Energy Generation Forecasting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4592835"/>
            <a:ext cx="9525000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94A3B8"/>
                </a:solidFill>
                <a:latin typeface="Inter"/>
              </a:rPr>
              <a:t>AI-driven grid stabilization via localized meteorological integration.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976562"/>
            <a:ext cx="2984450" cy="2228850"/>
          </a:xfrm>
          <a:prstGeom prst="roundRect">
            <a:avLst>
              <a:gd name="adj" fmla="val 6837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622750" y="2876550"/>
            <a:ext cx="2984450" cy="2428875"/>
          </a:xfrm>
          <a:prstGeom prst="roundRect">
            <a:avLst>
              <a:gd name="adj" fmla="val 6274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483500" y="2995612"/>
            <a:ext cx="2946350" cy="2190750"/>
          </a:xfrm>
          <a:prstGeom prst="roundRect">
            <a:avLst>
              <a:gd name="adj" fmla="val 6956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1250" y="3938587"/>
            <a:ext cx="266700" cy="304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2000" y="3938587"/>
            <a:ext cx="2667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4125" y="3452812"/>
            <a:ext cx="40005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29151" y="3352800"/>
            <a:ext cx="571500" cy="4572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99426" y="3452812"/>
            <a:ext cx="514350" cy="457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-285750" y="1552575"/>
            <a:ext cx="12763500" cy="561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600" b="1" i="0" u="none">
                <a:solidFill>
                  <a:srgbClr val="0F172A"/>
                </a:solidFill>
                <a:latin typeface="Inter"/>
              </a:rPr>
              <a:t>Unified Forecasting Pipeline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732" y="4138612"/>
            <a:ext cx="3066984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0F172A"/>
                </a:solidFill>
                <a:latin typeface="Inter"/>
              </a:rPr>
              <a:t>Grid Energy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3756" y="4529137"/>
            <a:ext cx="292093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64748B"/>
                </a:solidFill>
                <a:latin typeface="Inter"/>
              </a:rPr>
              <a:t>Historical load metrics.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1483" y="4038600"/>
            <a:ext cx="3066984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0F172A"/>
                </a:solidFill>
                <a:latin typeface="Inter"/>
              </a:rPr>
              <a:t>Regional Weather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4506" y="4429125"/>
            <a:ext cx="2920937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64748B"/>
                </a:solidFill>
                <a:latin typeface="Inter"/>
              </a:rPr>
              <a:t>Localized meteorological features.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23183" y="4138612"/>
            <a:ext cx="3066984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FFFFFF"/>
                </a:solidFill>
                <a:latin typeface="Inter"/>
              </a:rPr>
              <a:t>Feature Matrix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96206" y="4529137"/>
            <a:ext cx="292093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94A3B8"/>
                </a:solidFill>
                <a:latin typeface="Inter"/>
              </a:rPr>
              <a:t>35K+ time-aligned records.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1838325"/>
            <a:ext cx="5105400" cy="4257675"/>
          </a:xfrm>
          <a:prstGeom prst="roundRect">
            <a:avLst>
              <a:gd name="adj" fmla="val 357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324600" y="1838325"/>
            <a:ext cx="5105400" cy="4257675"/>
          </a:xfrm>
          <a:prstGeom prst="roundRect">
            <a:avLst>
              <a:gd name="adj" fmla="val 357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62000" y="1838325"/>
            <a:ext cx="5105400" cy="5715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324600" y="1838325"/>
            <a:ext cx="5105400" cy="571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4410075"/>
            <a:ext cx="228600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1800" y="4410075"/>
            <a:ext cx="228600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0" y="762000"/>
            <a:ext cx="11430000" cy="4667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Inter"/>
              </a:rPr>
              <a:t>Robust Outlier Treatment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9200" y="3352800"/>
            <a:ext cx="5500687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Extreme Skewness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9200" y="3876675"/>
            <a:ext cx="523875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64748B"/>
                </a:solidFill>
                <a:latin typeface="Inter"/>
              </a:rPr>
              <a:t>Erratic pressure and wind variance.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81800" y="3352800"/>
            <a:ext cx="541020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Quantile Transformation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81800" y="3876675"/>
            <a:ext cx="523875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64748B"/>
                </a:solidFill>
                <a:latin typeface="Inter"/>
              </a:rPr>
              <a:t>Uniform feature distributions.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4424362"/>
            <a:ext cx="179784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Model instability.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62800" y="4424362"/>
            <a:ext cx="291703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Stabilized learning gradient.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286000" y="2709862"/>
            <a:ext cx="7620000" cy="2695575"/>
          </a:xfrm>
          <a:prstGeom prst="roundRect">
            <a:avLst>
              <a:gd name="adj" fmla="val 4240"/>
            </a:avLst>
          </a:prstGeom>
          <a:solidFill>
            <a:srgbClr val="CBD5E1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295525" y="2719387"/>
            <a:ext cx="1333500" cy="46672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48075" y="2719387"/>
            <a:ext cx="1547812" cy="46672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214937" y="2719387"/>
            <a:ext cx="1547812" cy="46672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781800" y="2719387"/>
            <a:ext cx="1547812" cy="46672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348662" y="2719387"/>
            <a:ext cx="1547812" cy="46672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295525" y="3205162"/>
            <a:ext cx="1333500" cy="533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48075" y="3205162"/>
            <a:ext cx="1547812" cy="53340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214937" y="3205162"/>
            <a:ext cx="1547812" cy="5334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781800" y="3205162"/>
            <a:ext cx="1547812" cy="533400"/>
          </a:xfrm>
          <a:prstGeom prst="rect">
            <a:avLst/>
          </a:prstGeom>
          <a:solidFill>
            <a:srgbClr val="FC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348662" y="3205162"/>
            <a:ext cx="1547812" cy="533400"/>
          </a:xfrm>
          <a:prstGeom prst="rect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295525" y="3757612"/>
            <a:ext cx="1333500" cy="533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648075" y="3757612"/>
            <a:ext cx="1547812" cy="5334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214937" y="3757612"/>
            <a:ext cx="1547812" cy="53340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781800" y="3757612"/>
            <a:ext cx="1547812" cy="533400"/>
          </a:xfrm>
          <a:prstGeom prst="rect">
            <a:avLst/>
          </a:prstGeom>
          <a:solidFill>
            <a:srgbClr val="FC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348662" y="3757612"/>
            <a:ext cx="1547812" cy="533400"/>
          </a:xfrm>
          <a:prstGeom prst="rect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295525" y="4310062"/>
            <a:ext cx="1333500" cy="533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648075" y="4310062"/>
            <a:ext cx="1547812" cy="533400"/>
          </a:xfrm>
          <a:prstGeom prst="rect">
            <a:avLst/>
          </a:prstGeom>
          <a:solidFill>
            <a:srgbClr val="FC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214937" y="4310062"/>
            <a:ext cx="1547812" cy="533400"/>
          </a:xfrm>
          <a:prstGeom prst="rect">
            <a:avLst/>
          </a:prstGeom>
          <a:solidFill>
            <a:srgbClr val="FC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781800" y="4310062"/>
            <a:ext cx="1547812" cy="53340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348662" y="4310062"/>
            <a:ext cx="1547812" cy="533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295525" y="4862512"/>
            <a:ext cx="1333500" cy="533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648075" y="4862512"/>
            <a:ext cx="1547812" cy="533400"/>
          </a:xfrm>
          <a:prstGeom prst="rect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214937" y="4862512"/>
            <a:ext cx="1547812" cy="533400"/>
          </a:xfrm>
          <a:prstGeom prst="rect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781800" y="4862512"/>
            <a:ext cx="1547812" cy="533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348662" y="4862512"/>
            <a:ext cx="1547812" cy="53340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833812" y="1452562"/>
            <a:ext cx="5938242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Inter"/>
              </a:rPr>
              <a:t>Preventing Target Leakage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66812" y="2024062"/>
            <a:ext cx="985837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64748B"/>
                </a:solidFill>
                <a:latin typeface="Inter"/>
              </a:rPr>
              <a:t>Day-ahead forecasts serve as artificial anchors, obscuring true meteorological signals.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47925" y="2871787"/>
            <a:ext cx="1123950" cy="1619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Inter"/>
              </a:rPr>
              <a:t>Features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06998" y="2871787"/>
            <a:ext cx="1629965" cy="1619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 u="none">
                <a:solidFill>
                  <a:srgbClr val="64748B"/>
                </a:solidFill>
                <a:latin typeface="Inter"/>
              </a:rPr>
              <a:t>Solar Gen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73860" y="2871787"/>
            <a:ext cx="1629965" cy="1619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 u="none">
                <a:solidFill>
                  <a:srgbClr val="64748B"/>
                </a:solidFill>
                <a:latin typeface="Inter"/>
              </a:rPr>
              <a:t>Day Ahead Fcst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40723" y="2871787"/>
            <a:ext cx="1629965" cy="1619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 u="none">
                <a:solidFill>
                  <a:srgbClr val="64748B"/>
                </a:solidFill>
                <a:latin typeface="Inter"/>
              </a:rPr>
              <a:t>Temperature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07585" y="2871787"/>
            <a:ext cx="1629965" cy="1619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 u="none">
                <a:solidFill>
                  <a:srgbClr val="64748B"/>
                </a:solidFill>
                <a:latin typeface="Inter"/>
              </a:rPr>
              <a:t>Humidity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47925" y="3357562"/>
            <a:ext cx="112395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Inter"/>
              </a:rPr>
              <a:t>Solar Gen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06998" y="3357562"/>
            <a:ext cx="1629965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 u="none">
                <a:solidFill>
                  <a:srgbClr val="FFFFFF"/>
                </a:solidFill>
                <a:latin typeface="Inter"/>
              </a:rPr>
              <a:t>1.00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73860" y="3357562"/>
            <a:ext cx="1629965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 u="none">
                <a:solidFill>
                  <a:srgbClr val="FFFFFF"/>
                </a:solidFill>
                <a:latin typeface="Inter"/>
              </a:rPr>
              <a:t>0.99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40723" y="3357562"/>
            <a:ext cx="1629965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 u="none">
                <a:solidFill>
                  <a:srgbClr val="7F1D1D"/>
                </a:solidFill>
                <a:latin typeface="Inter"/>
              </a:rPr>
              <a:t>0.46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07585" y="3357562"/>
            <a:ext cx="1629965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 u="none">
                <a:solidFill>
                  <a:srgbClr val="1E3A8A"/>
                </a:solidFill>
                <a:latin typeface="Inter"/>
              </a:rPr>
              <a:t>-0.50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447925" y="3910012"/>
            <a:ext cx="112395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1364"/>
              </a:lnSpc>
            </a:pPr>
            <a:r>
              <a:rPr sz="1050" b="1" i="0" u="none">
                <a:solidFill>
                  <a:srgbClr val="0F172A"/>
                </a:solidFill>
                <a:latin typeface="Inter"/>
              </a:rPr>
              <a:t>Day Ahead Fcst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06998" y="3910012"/>
            <a:ext cx="1629965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 u="none">
                <a:solidFill>
                  <a:srgbClr val="FFFFFF"/>
                </a:solidFill>
                <a:latin typeface="Inter"/>
              </a:rPr>
              <a:t>0.99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73860" y="3910012"/>
            <a:ext cx="1629965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 u="none">
                <a:solidFill>
                  <a:srgbClr val="FFFFFF"/>
                </a:solidFill>
                <a:latin typeface="Inter"/>
              </a:rPr>
              <a:t>1.00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40723" y="3910012"/>
            <a:ext cx="1629965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 u="none">
                <a:solidFill>
                  <a:srgbClr val="7F1D1D"/>
                </a:solidFill>
                <a:latin typeface="Inter"/>
              </a:rPr>
              <a:t>0.46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07585" y="3910012"/>
            <a:ext cx="1629965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 u="none">
                <a:solidFill>
                  <a:srgbClr val="1E3A8A"/>
                </a:solidFill>
                <a:latin typeface="Inter"/>
              </a:rPr>
              <a:t>-0.50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47925" y="4462462"/>
            <a:ext cx="112395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Inter"/>
              </a:rPr>
              <a:t>Temperature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06998" y="4462462"/>
            <a:ext cx="1629965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 u="none">
                <a:solidFill>
                  <a:srgbClr val="7F1D1D"/>
                </a:solidFill>
                <a:latin typeface="Inter"/>
              </a:rPr>
              <a:t>0.46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73860" y="4462462"/>
            <a:ext cx="1629965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 u="none">
                <a:solidFill>
                  <a:srgbClr val="7F1D1D"/>
                </a:solidFill>
                <a:latin typeface="Inter"/>
              </a:rPr>
              <a:t>0.46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40723" y="4462462"/>
            <a:ext cx="1629965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 u="none">
                <a:solidFill>
                  <a:srgbClr val="FFFFFF"/>
                </a:solidFill>
                <a:latin typeface="Inter"/>
              </a:rPr>
              <a:t>1.00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07585" y="4462462"/>
            <a:ext cx="1629965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 u="none">
                <a:solidFill>
                  <a:srgbClr val="1E3A8A"/>
                </a:solidFill>
                <a:latin typeface="Inter"/>
              </a:rPr>
              <a:t>-0.40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447925" y="5014912"/>
            <a:ext cx="112395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Inter"/>
              </a:rPr>
              <a:t>Humidity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06998" y="5014912"/>
            <a:ext cx="1629965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 u="none">
                <a:solidFill>
                  <a:srgbClr val="1E3A8A"/>
                </a:solidFill>
                <a:latin typeface="Inter"/>
              </a:rPr>
              <a:t>-0.50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173860" y="5014912"/>
            <a:ext cx="1629965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 u="none">
                <a:solidFill>
                  <a:srgbClr val="1E3A8A"/>
                </a:solidFill>
                <a:latin typeface="Inter"/>
              </a:rPr>
              <a:t>-0.50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740723" y="5014912"/>
            <a:ext cx="1629965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 u="none">
                <a:solidFill>
                  <a:srgbClr val="1E3A8A"/>
                </a:solidFill>
                <a:latin typeface="Inter"/>
              </a:rPr>
              <a:t>-0.40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07585" y="5014912"/>
            <a:ext cx="1629965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 u="none">
                <a:solidFill>
                  <a:srgbClr val="FFFFFF"/>
                </a:solidFill>
                <a:latin typeface="Inter"/>
              </a:rPr>
              <a:t>1.00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281237"/>
            <a:ext cx="5029200" cy="381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0" y="2281237"/>
            <a:ext cx="5029200" cy="381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76325" y="5182195"/>
            <a:ext cx="146893" cy="185142"/>
          </a:xfrm>
          <a:prstGeom prst="roundRect">
            <a:avLst>
              <a:gd name="adj" fmla="val 25937"/>
            </a:avLst>
          </a:prstGeom>
          <a:solidFill>
            <a:srgbClr val="FEF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261318" y="5228480"/>
            <a:ext cx="146893" cy="138856"/>
          </a:xfrm>
          <a:prstGeom prst="roundRect">
            <a:avLst>
              <a:gd name="adj" fmla="val 27438"/>
            </a:avLst>
          </a:prstGeom>
          <a:solidFill>
            <a:srgbClr val="FEF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446311" y="5274766"/>
            <a:ext cx="146893" cy="92571"/>
          </a:xfrm>
          <a:prstGeom prst="roundRect">
            <a:avLst>
              <a:gd name="adj" fmla="val 41157"/>
            </a:avLst>
          </a:prstGeom>
          <a:solidFill>
            <a:srgbClr val="FEF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631305" y="5274766"/>
            <a:ext cx="146893" cy="92571"/>
          </a:xfrm>
          <a:prstGeom prst="roundRect">
            <a:avLst>
              <a:gd name="adj" fmla="val 41157"/>
            </a:avLst>
          </a:prstGeom>
          <a:solidFill>
            <a:srgbClr val="FEF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816298" y="5251698"/>
            <a:ext cx="146893" cy="115639"/>
          </a:xfrm>
          <a:prstGeom prst="roundRect">
            <a:avLst>
              <a:gd name="adj" fmla="val 32947"/>
            </a:avLst>
          </a:prstGeom>
          <a:solidFill>
            <a:srgbClr val="FEF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001291" y="5182195"/>
            <a:ext cx="146893" cy="185142"/>
          </a:xfrm>
          <a:prstGeom prst="roundRect">
            <a:avLst>
              <a:gd name="adj" fmla="val 25937"/>
            </a:avLst>
          </a:prstGeom>
          <a:solidFill>
            <a:srgbClr val="FEF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186285" y="4788693"/>
            <a:ext cx="146893" cy="578643"/>
          </a:xfrm>
          <a:prstGeom prst="roundRect">
            <a:avLst>
              <a:gd name="adj" fmla="val 25937"/>
            </a:avLst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371278" y="4441626"/>
            <a:ext cx="146893" cy="925710"/>
          </a:xfrm>
          <a:prstGeom prst="roundRect">
            <a:avLst>
              <a:gd name="adj" fmla="val 25937"/>
            </a:avLst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556271" y="3978622"/>
            <a:ext cx="146893" cy="1388715"/>
          </a:xfrm>
          <a:prstGeom prst="roundRect">
            <a:avLst>
              <a:gd name="adj" fmla="val 25937"/>
            </a:avLst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741265" y="3515766"/>
            <a:ext cx="146893" cy="1851570"/>
          </a:xfrm>
          <a:prstGeom prst="roundRect">
            <a:avLst>
              <a:gd name="adj" fmla="val 25937"/>
            </a:avLst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2926258" y="3284339"/>
            <a:ext cx="146893" cy="2082998"/>
          </a:xfrm>
          <a:prstGeom prst="roundRect">
            <a:avLst>
              <a:gd name="adj" fmla="val 25937"/>
            </a:avLst>
          </a:prstGeom>
          <a:solidFill>
            <a:srgbClr val="CA8A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111251" y="3168550"/>
            <a:ext cx="146893" cy="2198786"/>
          </a:xfrm>
          <a:prstGeom prst="roundRect">
            <a:avLst>
              <a:gd name="adj" fmla="val 25937"/>
            </a:avLst>
          </a:prstGeom>
          <a:solidFill>
            <a:srgbClr val="CA8A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296245" y="3052762"/>
            <a:ext cx="146893" cy="2314575"/>
          </a:xfrm>
          <a:prstGeom prst="roundRect">
            <a:avLst>
              <a:gd name="adj" fmla="val 25937"/>
            </a:avLst>
          </a:prstGeom>
          <a:solidFill>
            <a:srgbClr val="CA8A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3481238" y="3238053"/>
            <a:ext cx="146893" cy="2129283"/>
          </a:xfrm>
          <a:prstGeom prst="roundRect">
            <a:avLst>
              <a:gd name="adj" fmla="val 25937"/>
            </a:avLst>
          </a:prstGeom>
          <a:solidFill>
            <a:srgbClr val="CA8A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3666232" y="3562052"/>
            <a:ext cx="146893" cy="1805285"/>
          </a:xfrm>
          <a:prstGeom prst="roundRect">
            <a:avLst>
              <a:gd name="adj" fmla="val 25937"/>
            </a:avLst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3851225" y="3862982"/>
            <a:ext cx="146893" cy="1504354"/>
          </a:xfrm>
          <a:prstGeom prst="roundRect">
            <a:avLst>
              <a:gd name="adj" fmla="val 25937"/>
            </a:avLst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4036218" y="4325838"/>
            <a:ext cx="146893" cy="1041499"/>
          </a:xfrm>
          <a:prstGeom prst="roundRect">
            <a:avLst>
              <a:gd name="adj" fmla="val 25937"/>
            </a:avLst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4221212" y="4673054"/>
            <a:ext cx="146893" cy="694283"/>
          </a:xfrm>
          <a:prstGeom prst="roundRect">
            <a:avLst>
              <a:gd name="adj" fmla="val 25937"/>
            </a:avLst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4406205" y="5020270"/>
            <a:ext cx="146893" cy="347067"/>
          </a:xfrm>
          <a:prstGeom prst="roundRect">
            <a:avLst>
              <a:gd name="adj" fmla="val 25937"/>
            </a:avLst>
          </a:prstGeom>
          <a:solidFill>
            <a:srgbClr val="FEF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4591198" y="5135909"/>
            <a:ext cx="146893" cy="231427"/>
          </a:xfrm>
          <a:prstGeom prst="roundRect">
            <a:avLst>
              <a:gd name="adj" fmla="val 25937"/>
            </a:avLst>
          </a:prstGeom>
          <a:solidFill>
            <a:srgbClr val="FEF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4776192" y="5182195"/>
            <a:ext cx="146893" cy="185142"/>
          </a:xfrm>
          <a:prstGeom prst="roundRect">
            <a:avLst>
              <a:gd name="adj" fmla="val 25937"/>
            </a:avLst>
          </a:prstGeom>
          <a:solidFill>
            <a:srgbClr val="FEF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4961185" y="5228480"/>
            <a:ext cx="146893" cy="138856"/>
          </a:xfrm>
          <a:prstGeom prst="roundRect">
            <a:avLst>
              <a:gd name="adj" fmla="val 27438"/>
            </a:avLst>
          </a:prstGeom>
          <a:solidFill>
            <a:srgbClr val="FEF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46178" y="5205412"/>
            <a:ext cx="146893" cy="161925"/>
          </a:xfrm>
          <a:prstGeom prst="roundRect">
            <a:avLst>
              <a:gd name="adj" fmla="val 25937"/>
            </a:avLst>
          </a:prstGeom>
          <a:solidFill>
            <a:srgbClr val="FEF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5331172" y="5228480"/>
            <a:ext cx="146893" cy="138856"/>
          </a:xfrm>
          <a:prstGeom prst="roundRect">
            <a:avLst>
              <a:gd name="adj" fmla="val 27438"/>
            </a:avLst>
          </a:prstGeom>
          <a:solidFill>
            <a:srgbClr val="FEF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125" y="3052762"/>
            <a:ext cx="4400550" cy="2409825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-285750" y="766762"/>
            <a:ext cx="127635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Inter"/>
              </a:rPr>
              <a:t>DATA SIGNATURES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-285750" y="1109662"/>
            <a:ext cx="12763500" cy="561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600" b="1" i="0" u="none">
                <a:solidFill>
                  <a:srgbClr val="0F172A"/>
                </a:solidFill>
                <a:latin typeface="Inter"/>
              </a:rPr>
              <a:t>Temporal Generation Patterns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8739" y="2595562"/>
            <a:ext cx="5775721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Inter"/>
              </a:rPr>
              <a:t>9-Hour Peak Production Window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6256" y="5614987"/>
            <a:ext cx="5500687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64748B"/>
                </a:solidFill>
                <a:latin typeface="Inter"/>
              </a:rPr>
              <a:t>Hour of Day (0-23)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27539" y="2595562"/>
            <a:ext cx="5775721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Inter"/>
              </a:rPr>
              <a:t>24h Autocorrelation Cycle (ACF)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65056" y="5614987"/>
            <a:ext cx="5500687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64748B"/>
                </a:solidFill>
                <a:latin typeface="Inter"/>
              </a:rPr>
              <a:t>Lag (Hours) 0-48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0" y="1357312"/>
            <a:ext cx="5029200" cy="4143375"/>
          </a:xfrm>
          <a:prstGeom prst="roundRect">
            <a:avLst>
              <a:gd name="adj" fmla="val 367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162800" y="5086350"/>
            <a:ext cx="228600" cy="381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953500" y="5086350"/>
            <a:ext cx="228600" cy="38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53500" y="5095875"/>
            <a:ext cx="228600" cy="28575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125" y="2128837"/>
            <a:ext cx="4400550" cy="2667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2000" y="2046982"/>
            <a:ext cx="62865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Inter"/>
              </a:rPr>
              <a:t>THE 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2389882"/>
            <a:ext cx="5380672" cy="1173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620"/>
              </a:lnSpc>
            </a:pPr>
            <a:r>
              <a:rPr sz="4200" b="1" i="0" u="none">
                <a:solidFill>
                  <a:srgbClr val="0F172A"/>
                </a:solidFill>
                <a:latin typeface="Inter"/>
              </a:rPr>
              <a:t>The Intermittency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3868042"/>
            <a:ext cx="5124450" cy="942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475569"/>
                </a:solidFill>
                <a:latin typeface="Inter"/>
              </a:rPr>
              <a:t>Solar generation is highly volatile. Rapid weather shifts cause sudden production gaps that static baselines fail to predict.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27539" y="1671637"/>
            <a:ext cx="5775721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Inter"/>
              </a:rPr>
              <a:t>Solar Generation vs. Cloud Cover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67600" y="5024437"/>
            <a:ext cx="147637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475569"/>
                </a:solidFill>
                <a:latin typeface="Inter"/>
              </a:rPr>
              <a:t>Actual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58300" y="5024437"/>
            <a:ext cx="176212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475569"/>
                </a:solidFill>
                <a:latin typeface="Inter"/>
              </a:rPr>
              <a:t>Regional Cloud Cover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1838325"/>
            <a:ext cx="3352800" cy="4257675"/>
          </a:xfrm>
          <a:prstGeom prst="roundRect">
            <a:avLst>
              <a:gd name="adj" fmla="val 454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419600" y="1838325"/>
            <a:ext cx="3352800" cy="4257675"/>
          </a:xfrm>
          <a:prstGeom prst="roundRect">
            <a:avLst>
              <a:gd name="adj" fmla="val 454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1838325"/>
            <a:ext cx="3352800" cy="4257675"/>
          </a:xfrm>
          <a:prstGeom prst="roundRect">
            <a:avLst>
              <a:gd name="adj" fmla="val 4545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66800" y="5162550"/>
            <a:ext cx="27432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724400" y="5162550"/>
            <a:ext cx="27432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382000" y="4933950"/>
            <a:ext cx="2743200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2000" y="762000"/>
            <a:ext cx="11430000" cy="4667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Inter"/>
              </a:rPr>
              <a:t>Algorithm Evaluation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6800" y="2295525"/>
            <a:ext cx="3600450" cy="323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Inter"/>
              </a:rPr>
              <a:t>Linear Regression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6800" y="2771775"/>
            <a:ext cx="34290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Inter"/>
              </a:rPr>
              <a:t>Baseline benchmark.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24400" y="2295525"/>
            <a:ext cx="3600450" cy="323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Inter"/>
              </a:rPr>
              <a:t>Random Forest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4400" y="2771775"/>
            <a:ext cx="34290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Inter"/>
              </a:rPr>
              <a:t>Ensemble architecture.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0" y="2295525"/>
            <a:ext cx="3600450" cy="323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FFFFFF"/>
                </a:solidFill>
                <a:latin typeface="Inter"/>
              </a:rPr>
              <a:t>XGBoost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0" y="2771775"/>
            <a:ext cx="34290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94A3B8"/>
                </a:solidFill>
                <a:latin typeface="Inter"/>
              </a:rPr>
              <a:t>Regularized gradient boosting.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6800" y="5410200"/>
            <a:ext cx="34290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EF4444"/>
                </a:solidFill>
                <a:latin typeface="Inter"/>
              </a:rPr>
              <a:t>Highly overfitted.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4400" y="5410200"/>
            <a:ext cx="34290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High variance output.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0" y="5181600"/>
            <a:ext cx="28384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0B981"/>
                </a:solidFill>
                <a:latin typeface="Inter"/>
              </a:rPr>
              <a:t>Optimized predictive balance.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333500" y="2690812"/>
            <a:ext cx="4610100" cy="2647950"/>
          </a:xfrm>
          <a:prstGeom prst="roundRect">
            <a:avLst>
              <a:gd name="adj" fmla="val 575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2690812"/>
            <a:ext cx="4610100" cy="2647950"/>
          </a:xfrm>
          <a:prstGeom prst="roundRect">
            <a:avLst>
              <a:gd name="adj" fmla="val 575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800225" y="4033837"/>
            <a:ext cx="3676650" cy="1143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800225" y="4757737"/>
            <a:ext cx="3676650" cy="1143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715125" y="4033837"/>
            <a:ext cx="3676650" cy="1143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715125" y="4757737"/>
            <a:ext cx="3676650" cy="1143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800225" y="4033837"/>
            <a:ext cx="3088332" cy="114300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800225" y="4757737"/>
            <a:ext cx="2095648" cy="11430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715125" y="4033837"/>
            <a:ext cx="1654373" cy="114300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715125" y="4757737"/>
            <a:ext cx="3051571" cy="11430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-285750" y="1519237"/>
            <a:ext cx="12763500" cy="561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600" b="1" i="0" u="none">
                <a:solidFill>
                  <a:srgbClr val="0F172A"/>
                </a:solidFill>
                <a:latin typeface="Inter"/>
              </a:rPr>
              <a:t>Final XGBoost Validation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00225" y="3157537"/>
            <a:ext cx="4595812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64748B"/>
                </a:solidFill>
                <a:latin typeface="Inter"/>
              </a:rPr>
              <a:t>R² SCORE DROP-OFF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15125" y="3157537"/>
            <a:ext cx="4595812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64748B"/>
                </a:solidFill>
                <a:latin typeface="Inter"/>
              </a:rPr>
              <a:t>MEAN ABSOLUTE ERROR (MW)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00225" y="3757612"/>
            <a:ext cx="96202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Training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72025" y="3652837"/>
            <a:ext cx="99060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2400" b="1" i="0" u="none">
                <a:solidFill>
                  <a:srgbClr val="0F172A"/>
                </a:solidFill>
                <a:latin typeface="Inter"/>
              </a:rPr>
              <a:t>0.84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00225" y="4481512"/>
            <a:ext cx="111442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Validation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0600" y="4376737"/>
            <a:ext cx="962025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2400" b="1" i="0" u="none">
                <a:solidFill>
                  <a:srgbClr val="0F172A"/>
                </a:solidFill>
                <a:latin typeface="Inter"/>
              </a:rPr>
              <a:t>0.57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15125" y="3757612"/>
            <a:ext cx="96202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Training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91700" y="3652837"/>
            <a:ext cx="885825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2400" b="1" i="0" u="none">
                <a:solidFill>
                  <a:srgbClr val="0F172A"/>
                </a:solidFill>
                <a:latin typeface="Inter"/>
              </a:rPr>
              <a:t>465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15125" y="4481512"/>
            <a:ext cx="111442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EF4444"/>
                </a:solidFill>
                <a:latin typeface="Inter"/>
              </a:rPr>
              <a:t>Validation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91700" y="4376737"/>
            <a:ext cx="885825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2400" b="1" i="0" u="none">
                <a:solidFill>
                  <a:srgbClr val="EF4444"/>
                </a:solidFill>
                <a:latin typeface="Inter"/>
              </a:rPr>
              <a:t>839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3067050"/>
            <a:ext cx="914400" cy="9144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800" y="3067050"/>
            <a:ext cx="914400" cy="9144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6400" y="3067050"/>
            <a:ext cx="914400" cy="914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24087" y="3333750"/>
            <a:ext cx="428625" cy="381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05500" y="3333750"/>
            <a:ext cx="381000" cy="381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15475" y="3333750"/>
            <a:ext cx="476250" cy="381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-285750" y="1743075"/>
            <a:ext cx="12763500" cy="561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600" b="1" i="0" u="none">
                <a:solidFill>
                  <a:srgbClr val="0F172A"/>
                </a:solidFill>
                <a:latin typeface="Inter"/>
              </a:rPr>
              <a:t>Strategic Grid Impact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9528" y="4286250"/>
            <a:ext cx="1937742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0F172A"/>
                </a:solidFill>
                <a:latin typeface="Inter"/>
              </a:rPr>
              <a:t>Grid Stability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1525" y="4714875"/>
            <a:ext cx="33337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64748B"/>
                </a:solidFill>
                <a:latin typeface="Inter"/>
              </a:rPr>
              <a:t>Neutralizes fossil-fuel peaker plant reliance.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77122" y="4286250"/>
            <a:ext cx="2037754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0F172A"/>
                </a:solidFill>
                <a:latin typeface="Inter"/>
              </a:rPr>
              <a:t>Sustainability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125" y="4714875"/>
            <a:ext cx="33337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64748B"/>
                </a:solidFill>
                <a:latin typeface="Inter"/>
              </a:rPr>
              <a:t>Advances UN climate action goals.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65901" y="4286250"/>
            <a:ext cx="3175396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0F172A"/>
                </a:solidFill>
                <a:latin typeface="Inter"/>
              </a:rPr>
              <a:t>Scalable Architecture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86725" y="4714875"/>
            <a:ext cx="33337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64748B"/>
                </a:solidFill>
                <a:latin typeface="Inter"/>
              </a:rPr>
              <a:t>Adaptable across diverse geographic networks.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15000" y="3629025"/>
            <a:ext cx="762000" cy="5715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189261" y="2590800"/>
            <a:ext cx="7813476" cy="7334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4800" b="1" i="0" u="none">
                <a:solidFill>
                  <a:srgbClr val="F8FAFC"/>
                </a:solidFill>
                <a:latin typeface="Inter"/>
              </a:rPr>
              <a:t>Questions &amp;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52937" y="3990975"/>
            <a:ext cx="3286125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0" i="0" u="none">
                <a:solidFill>
                  <a:srgbClr val="94A3B8"/>
                </a:solidFill>
                <a:latin typeface="Inter"/>
              </a:rPr>
              <a:t>Thank you for your time.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257</Words>
  <Application>Microsoft Office PowerPoint</Application>
  <PresentationFormat>Widescreen</PresentationFormat>
  <Paragraphs>86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Inter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hassan shah</cp:lastModifiedBy>
  <cp:revision>1</cp:revision>
  <dcterms:created xsi:type="dcterms:W3CDTF">2013-01-27T09:14:16Z</dcterms:created>
  <dcterms:modified xsi:type="dcterms:W3CDTF">2026-09-25T03:52:27Z</dcterms:modified>
  <cp:category/>
</cp:coreProperties>
</file>